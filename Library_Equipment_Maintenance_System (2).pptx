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topic: a digital system for tracking and maintaining library equipment. Briefly state the presentation will cover the problem, the proposed system, its design, and its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libraries now depend on many types of equipment beyond books. Define LEMS as a centralized platform, and emphasize the shift from scattered manual logs to one reliable digital record. Mention that downtime affects patrons directly,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pain point of manual tracking: records get lost, repairs are delayed because nobody is notified promptly, there's no clear accountability for who handles an issue, and all of this adds up to equipment downtime that disrupts library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objectives directly respond to the problems just discussed: automation solves lost records, scheduling solves delayed repairs, faster workflows reduce downtime, and reporting supports accountability and future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boundaries of the system: it covers electronic devices (computers, printers, scanners, projectors), access-control hardware (RFID/security gates), physical furniture, and back-end network infrastructure. Adjust this list based on your library's actual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module by module: inventory is the foundation, scheduling drives preventive care, issue reporting captures problems as they happen, technician assignment routes work efficiently, history preserves an audit trail, and alerts keep everyone proactive rather than reactive.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lifecycle of a single request: equipment is registered once, an issue gets reported, it's scheduled for service, a technician performs the repair, the status is updated in the system, and finally it feeds into reporting for future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stack for a technical audience — adjust based on your institution's existing infrastructure. The key point is a clean separation between the user-facing frontend, the API backend, persistent storage, and the notification layer that keeps staff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core entities: Equipment is central, linked to Location and to Maintenance Log records; each Maintenance Log entry is tied to a Technician; and Technician work updates a Status record. This is a simplified schema — expand with foreign keys as needed for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payoff: less downtime, lower repair costs, better-informed planning, longer equipment lifespan, smarter decisions from historical data, and clearer accountability across the maintenance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ahead to where the system could grow: a mobile app for field technicians, AI-driven predictive maintenance that flags at-risk equipment before failure, and QR/barcode scanning for instant equipment check-in and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the core message: this system moves the library from reactive to proactive maintenance. Invite questions or discussion about implementation timeline and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9875520" y="-1097280"/>
            <a:ext cx="3840480" cy="3840480"/>
          </a:xfrm>
          <a:prstGeom prst="ellipse">
            <a:avLst/>
          </a:prstGeom>
          <a:solidFill>
            <a:srgbClr val="065A82">
              <a:alpha val="45000"/>
            </a:srgbClr>
          </a:solidFill>
          <a:ln/>
        </p:spPr>
      </p:sp>
      <p:sp>
        <p:nvSpPr>
          <p:cNvPr id="3" name="Shape 1"/>
          <p:cNvSpPr/>
          <p:nvPr/>
        </p:nvSpPr>
        <p:spPr>
          <a:xfrm>
            <a:off x="11155680" y="4206240"/>
            <a:ext cx="2743200" cy="2743200"/>
          </a:xfrm>
          <a:prstGeom prst="ellipse">
            <a:avLst/>
          </a:prstGeom>
          <a:solidFill>
            <a:srgbClr val="1C7293">
              <a:alpha val="45000"/>
            </a:srgbClr>
          </a:solidFill>
          <a:ln/>
        </p:spPr>
      </p:sp>
      <p:sp>
        <p:nvSpPr>
          <p:cNvPr id="4" name="Shape 2"/>
          <p:cNvSpPr/>
          <p:nvPr/>
        </p:nvSpPr>
        <p:spPr>
          <a:xfrm>
            <a:off x="822960" y="822960"/>
            <a:ext cx="822960" cy="822960"/>
          </a:xfrm>
          <a:prstGeom prst="ellipse">
            <a:avLst/>
          </a:prstGeom>
          <a:solidFill>
            <a:srgbClr val="065A82"/>
          </a:solidFill>
          <a:ln/>
        </p:spPr>
      </p:sp>
      <p:pic>
        <p:nvPicPr>
          <p:cNvPr id="5" name="Image 0" descr="/home/claude/pptx_work/icon_book.png">    </p:cNvPr>
          <p:cNvPicPr>
            <a:picLocks noChangeAspect="1"/>
          </p:cNvPicPr>
          <p:nvPr/>
        </p:nvPicPr>
        <p:blipFill>
          <a:blip r:embed="rId1"/>
          <a:stretch>
            <a:fillRect/>
          </a:stretch>
        </p:blipFill>
        <p:spPr>
          <a:xfrm>
            <a:off x="1036930" y="1036930"/>
            <a:ext cx="395021" cy="395021"/>
          </a:xfrm>
          <a:prstGeom prst="rect">
            <a:avLst/>
          </a:prstGeom>
        </p:spPr>
      </p:pic>
      <p:sp>
        <p:nvSpPr>
          <p:cNvPr id="6" name="Text 3"/>
          <p:cNvSpPr txBox="1"/>
          <p:nvPr/>
        </p:nvSpPr>
        <p:spPr>
          <a:xfrm>
            <a:off x="822960" y="2468880"/>
            <a:ext cx="9601200" cy="1737360"/>
          </a:xfrm>
          <a:prstGeom prst="rect">
            <a:avLst/>
          </a:prstGeom>
          <a:noFill/>
          <a:ln/>
        </p:spPr>
        <p:txBody>
          <a:bodyPr wrap="square"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LIBRARY EQUIPMENT</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MAINTENANCE SYSTEM</a:t>
            </a:r>
            <a:endParaRPr lang="en-US" sz="4400" dirty="0"/>
          </a:p>
        </p:txBody>
      </p:sp>
      <p:sp>
        <p:nvSpPr>
          <p:cNvPr id="7" name="Text 4"/>
          <p:cNvSpPr txBox="1"/>
          <p:nvPr/>
        </p:nvSpPr>
        <p:spPr>
          <a:xfrm>
            <a:off x="822960" y="4160520"/>
            <a:ext cx="8229600" cy="45720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Smart Approach to Managing Library Assets</a:t>
            </a:r>
            <a:endParaRPr lang="en-US" sz="1800" dirty="0"/>
          </a:p>
        </p:txBody>
      </p:sp>
      <p:sp>
        <p:nvSpPr>
          <p:cNvPr id="8" name="Shape 5"/>
          <p:cNvSpPr/>
          <p:nvPr/>
        </p:nvSpPr>
        <p:spPr>
          <a:xfrm>
            <a:off x="822960" y="4800600"/>
            <a:ext cx="2011680" cy="0"/>
          </a:xfrm>
          <a:prstGeom prst="line">
            <a:avLst/>
          </a:prstGeom>
          <a:noFill/>
          <a:ln w="31750">
            <a:solidFill>
              <a:srgbClr val="E8A33D"/>
            </a:solidFill>
            <a:prstDash val="solid"/>
          </a:ln>
        </p:spPr>
      </p:sp>
      <p:sp>
        <p:nvSpPr>
          <p:cNvPr id="9" name="Text 6"/>
          <p:cNvSpPr txBox="1"/>
          <p:nvPr/>
        </p:nvSpPr>
        <p:spPr>
          <a:xfrm>
            <a:off x="822960" y="5943600"/>
            <a:ext cx="7315200" cy="320040"/>
          </a:xfrm>
          <a:prstGeom prst="rect">
            <a:avLst/>
          </a:prstGeom>
          <a:noFill/>
          <a:ln/>
        </p:spPr>
        <p:txBody>
          <a:bodyPr wrap="square" rtlCol="0" anchor="ctr"/>
          <a:lstStyle/>
          <a:p>
            <a:pPr indent="0" marL="0">
              <a:buNone/>
            </a:pPr>
            <a:r>
              <a:rPr lang="en-US" sz="1300" dirty="0">
                <a:solidFill>
                  <a:srgbClr val="C7D6DE"/>
                </a:solidFill>
                <a:latin typeface="Calibri" pitchFamily="34" charset="0"/>
                <a:ea typeface="Calibri" pitchFamily="34" charset="-122"/>
                <a:cs typeface="Calibri" pitchFamily="34" charset="-120"/>
              </a:rPr>
              <a:t>Department of Library &amp; Information Science</a:t>
            </a:r>
            <a:endParaRPr lang="en-US" sz="1300" dirty="0"/>
          </a:p>
        </p:txBody>
      </p:sp>
      <p:sp>
        <p:nvSpPr>
          <p:cNvPr id="10" name="Text 7"/>
          <p:cNvSpPr txBox="1"/>
          <p:nvPr/>
        </p:nvSpPr>
        <p:spPr>
          <a:xfrm>
            <a:off x="822960" y="6263640"/>
            <a:ext cx="7315200" cy="320040"/>
          </a:xfrm>
          <a:prstGeom prst="rect">
            <a:avLst/>
          </a:prstGeom>
          <a:noFill/>
          <a:ln/>
        </p:spPr>
        <p:txBody>
          <a:bodyPr wrap="square" rtlCol="0" anchor="ctr"/>
          <a:lstStyle/>
          <a:p>
            <a:pPr indent="0" marL="0">
              <a:buNone/>
            </a:pPr>
            <a:r>
              <a:rPr lang="en-US" sz="1300" dirty="0">
                <a:solidFill>
                  <a:srgbClr val="C7D6DE"/>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Introduction</a:t>
            </a:r>
            <a:endParaRPr lang="en-US" sz="3600" dirty="0"/>
          </a:p>
        </p:txBody>
      </p:sp>
      <p:sp>
        <p:nvSpPr>
          <p:cNvPr id="3" name="Shape 1"/>
          <p:cNvSpPr/>
          <p:nvPr/>
        </p:nvSpPr>
        <p:spPr>
          <a:xfrm>
            <a:off x="548640" y="1051560"/>
            <a:ext cx="11064240" cy="18288"/>
          </a:xfrm>
          <a:prstGeom prst="rect">
            <a:avLst/>
          </a:prstGeom>
          <a:solidFill>
            <a:srgbClr val="F4F7F9"/>
          </a:solidFill>
          <a:ln/>
        </p:spPr>
      </p:sp>
      <p:sp>
        <p:nvSpPr>
          <p:cNvPr id="4" name="Text 2"/>
          <p:cNvSpPr txBox="1"/>
          <p:nvPr/>
        </p:nvSpPr>
        <p:spPr>
          <a:xfrm>
            <a:off x="548640" y="1371600"/>
            <a:ext cx="6126480" cy="4206240"/>
          </a:xfrm>
          <a:prstGeom prst="rect">
            <a:avLst/>
          </a:prstGeom>
          <a:noFill/>
          <a:ln/>
        </p:spPr>
        <p:txBody>
          <a:bodyPr wrap="square" rtlCol="0" anchor="t"/>
          <a:lstStyle/>
          <a:p>
            <a:pPr indent="0" marL="0">
              <a:lnSpc>
                <a:spcPct val="135000"/>
              </a:lnSpc>
              <a:buNone/>
            </a:pPr>
            <a:r>
              <a:rPr lang="en-US" sz="1600" dirty="0">
                <a:solidFill>
                  <a:srgbClr val="1B2A33"/>
                </a:solidFill>
                <a:latin typeface="Calibri" pitchFamily="34" charset="0"/>
                <a:ea typeface="Calibri" pitchFamily="34" charset="-122"/>
                <a:cs typeface="Calibri" pitchFamily="34" charset="-120"/>
              </a:rPr>
              <a:t>Libraries today rely on a growing base of physical and digital equipment — computers, printers, scanners, projectors, RFID readers, and more.
</a:t>
            </a:r>
            <a:pPr indent="0" marL="0">
              <a:lnSpc>
                <a:spcPct val="135000"/>
              </a:lnSpc>
              <a:buNone/>
            </a:pPr>
            <a:r>
              <a:rPr lang="en-US" sz="1600" dirty="0">
                <a:solidFill>
                  <a:srgbClr val="1B2A33"/>
                </a:solidFill>
                <a:latin typeface="Calibri" pitchFamily="34" charset="0"/>
                <a:ea typeface="Calibri" pitchFamily="34" charset="-122"/>
                <a:cs typeface="Calibri" pitchFamily="34" charset="-120"/>
              </a:rPr>
              <a:t>A Library Equipment Maintenance System (LEMS) is a centralized digital platform that tracks, schedules, and manages the upkeep of all this equipment.
</a:t>
            </a:r>
            <a:pPr indent="0" marL="0">
              <a:lnSpc>
                <a:spcPct val="135000"/>
              </a:lnSpc>
              <a:buNone/>
            </a:pPr>
            <a:r>
              <a:rPr lang="en-US" sz="1600" dirty="0">
                <a:solidFill>
                  <a:srgbClr val="1B2A33"/>
                </a:solidFill>
                <a:latin typeface="Calibri" pitchFamily="34" charset="0"/>
                <a:ea typeface="Calibri" pitchFamily="34" charset="-122"/>
                <a:cs typeface="Calibri" pitchFamily="34" charset="-120"/>
              </a:rPr>
              <a:t>It replaces scattered paper logs and informal reporting with a single source of truth for equipment health.</a:t>
            </a:r>
            <a:endParaRPr lang="en-US" sz="1600" dirty="0"/>
          </a:p>
        </p:txBody>
      </p:sp>
      <p:sp>
        <p:nvSpPr>
          <p:cNvPr id="5" name="Shape 3"/>
          <p:cNvSpPr/>
          <p:nvPr/>
        </p:nvSpPr>
        <p:spPr>
          <a:xfrm>
            <a:off x="7132320" y="1371600"/>
            <a:ext cx="4480560" cy="4480560"/>
          </a:xfrm>
          <a:prstGeom prst="roundRect">
            <a:avLst>
              <a:gd name="adj" fmla="val 2449"/>
            </a:avLst>
          </a:prstGeom>
          <a:solidFill>
            <a:srgbClr val="F4F7F9"/>
          </a:solidFill>
          <a:ln/>
        </p:spPr>
      </p:sp>
      <p:sp>
        <p:nvSpPr>
          <p:cNvPr id="6" name="Shape 4"/>
          <p:cNvSpPr/>
          <p:nvPr/>
        </p:nvSpPr>
        <p:spPr>
          <a:xfrm>
            <a:off x="7406640" y="1691640"/>
            <a:ext cx="594360" cy="594360"/>
          </a:xfrm>
          <a:prstGeom prst="ellipse">
            <a:avLst/>
          </a:prstGeom>
          <a:solidFill>
            <a:srgbClr val="065A82"/>
          </a:solidFill>
          <a:ln/>
        </p:spPr>
      </p:sp>
      <p:pic>
        <p:nvPicPr>
          <p:cNvPr id="7" name="Image 0" descr="/home/claude/pptx_work/icon_laptop.png">    </p:cNvPr>
          <p:cNvPicPr>
            <a:picLocks noChangeAspect="1"/>
          </p:cNvPicPr>
          <p:nvPr/>
        </p:nvPicPr>
        <p:blipFill>
          <a:blip r:embed="rId1"/>
          <a:stretch>
            <a:fillRect/>
          </a:stretch>
        </p:blipFill>
        <p:spPr>
          <a:xfrm>
            <a:off x="7561174" y="1846174"/>
            <a:ext cx="285293" cy="285293"/>
          </a:xfrm>
          <a:prstGeom prst="rect">
            <a:avLst/>
          </a:prstGeom>
        </p:spPr>
      </p:pic>
      <p:sp>
        <p:nvSpPr>
          <p:cNvPr id="8" name="Text 5"/>
          <p:cNvSpPr txBox="1"/>
          <p:nvPr/>
        </p:nvSpPr>
        <p:spPr>
          <a:xfrm>
            <a:off x="8183880" y="1764792"/>
            <a:ext cx="3246120" cy="457200"/>
          </a:xfrm>
          <a:prstGeom prst="rect">
            <a:avLst/>
          </a:prstGeom>
          <a:noFill/>
          <a:ln/>
        </p:spPr>
        <p:txBody>
          <a:bodyPr wrap="square" rtlCol="0" anchor="ctr"/>
          <a:lstStyle/>
          <a:p>
            <a:pPr indent="0" marL="0">
              <a:buNone/>
            </a:pPr>
            <a:r>
              <a:rPr lang="en-US" sz="1400" b="1" dirty="0">
                <a:solidFill>
                  <a:srgbClr val="1B2A33"/>
                </a:solidFill>
                <a:latin typeface="Calibri" pitchFamily="34" charset="0"/>
                <a:ea typeface="Calibri" pitchFamily="34" charset="-122"/>
                <a:cs typeface="Calibri" pitchFamily="34" charset="-120"/>
              </a:rPr>
              <a:t>Computers &amp; Terminals</a:t>
            </a:r>
            <a:endParaRPr lang="en-US" sz="1400" dirty="0"/>
          </a:p>
        </p:txBody>
      </p:sp>
      <p:sp>
        <p:nvSpPr>
          <p:cNvPr id="9" name="Shape 6"/>
          <p:cNvSpPr/>
          <p:nvPr/>
        </p:nvSpPr>
        <p:spPr>
          <a:xfrm>
            <a:off x="7406640" y="2651760"/>
            <a:ext cx="594360" cy="594360"/>
          </a:xfrm>
          <a:prstGeom prst="ellipse">
            <a:avLst/>
          </a:prstGeom>
          <a:solidFill>
            <a:srgbClr val="065A82"/>
          </a:solidFill>
          <a:ln/>
        </p:spPr>
      </p:sp>
      <p:pic>
        <p:nvPicPr>
          <p:cNvPr id="10" name="Image 1" descr="/home/claude/pptx_work/icon_printer.png">    </p:cNvPr>
          <p:cNvPicPr>
            <a:picLocks noChangeAspect="1"/>
          </p:cNvPicPr>
          <p:nvPr/>
        </p:nvPicPr>
        <p:blipFill>
          <a:blip r:embed="rId2"/>
          <a:stretch>
            <a:fillRect/>
          </a:stretch>
        </p:blipFill>
        <p:spPr>
          <a:xfrm>
            <a:off x="7561174" y="2806294"/>
            <a:ext cx="285293" cy="285293"/>
          </a:xfrm>
          <a:prstGeom prst="rect">
            <a:avLst/>
          </a:prstGeom>
        </p:spPr>
      </p:pic>
      <p:sp>
        <p:nvSpPr>
          <p:cNvPr id="11" name="Text 7"/>
          <p:cNvSpPr txBox="1"/>
          <p:nvPr/>
        </p:nvSpPr>
        <p:spPr>
          <a:xfrm>
            <a:off x="8183880" y="2724912"/>
            <a:ext cx="3246120" cy="457200"/>
          </a:xfrm>
          <a:prstGeom prst="rect">
            <a:avLst/>
          </a:prstGeom>
          <a:noFill/>
          <a:ln/>
        </p:spPr>
        <p:txBody>
          <a:bodyPr wrap="square" rtlCol="0" anchor="ctr"/>
          <a:lstStyle/>
          <a:p>
            <a:pPr indent="0" marL="0">
              <a:buNone/>
            </a:pPr>
            <a:r>
              <a:rPr lang="en-US" sz="1400" b="1" dirty="0">
                <a:solidFill>
                  <a:srgbClr val="1B2A33"/>
                </a:solidFill>
                <a:latin typeface="Calibri" pitchFamily="34" charset="0"/>
                <a:ea typeface="Calibri" pitchFamily="34" charset="-122"/>
                <a:cs typeface="Calibri" pitchFamily="34" charset="-120"/>
              </a:rPr>
              <a:t>Printers &amp; Scanners</a:t>
            </a:r>
            <a:endParaRPr lang="en-US" sz="1400" dirty="0"/>
          </a:p>
        </p:txBody>
      </p:sp>
      <p:sp>
        <p:nvSpPr>
          <p:cNvPr id="12" name="Shape 8"/>
          <p:cNvSpPr/>
          <p:nvPr/>
        </p:nvSpPr>
        <p:spPr>
          <a:xfrm>
            <a:off x="7406640" y="3611880"/>
            <a:ext cx="594360" cy="594360"/>
          </a:xfrm>
          <a:prstGeom prst="ellipse">
            <a:avLst/>
          </a:prstGeom>
          <a:solidFill>
            <a:srgbClr val="065A82"/>
          </a:solidFill>
          <a:ln/>
        </p:spPr>
      </p:sp>
      <p:pic>
        <p:nvPicPr>
          <p:cNvPr id="13" name="Image 2" descr="/home/claude/pptx_work/icon_mapmarker.png">    </p:cNvPr>
          <p:cNvPicPr>
            <a:picLocks noChangeAspect="1"/>
          </p:cNvPicPr>
          <p:nvPr/>
        </p:nvPicPr>
        <p:blipFill>
          <a:blip r:embed="rId3"/>
          <a:stretch>
            <a:fillRect/>
          </a:stretch>
        </p:blipFill>
        <p:spPr>
          <a:xfrm>
            <a:off x="7561174" y="3766414"/>
            <a:ext cx="285293" cy="285293"/>
          </a:xfrm>
          <a:prstGeom prst="rect">
            <a:avLst/>
          </a:prstGeom>
        </p:spPr>
      </p:pic>
      <p:sp>
        <p:nvSpPr>
          <p:cNvPr id="14" name="Text 9"/>
          <p:cNvSpPr txBox="1"/>
          <p:nvPr/>
        </p:nvSpPr>
        <p:spPr>
          <a:xfrm>
            <a:off x="8183880" y="3685032"/>
            <a:ext cx="3246120" cy="457200"/>
          </a:xfrm>
          <a:prstGeom prst="rect">
            <a:avLst/>
          </a:prstGeom>
          <a:noFill/>
          <a:ln/>
        </p:spPr>
        <p:txBody>
          <a:bodyPr wrap="square" rtlCol="0" anchor="ctr"/>
          <a:lstStyle/>
          <a:p>
            <a:pPr indent="0" marL="0">
              <a:buNone/>
            </a:pPr>
            <a:r>
              <a:rPr lang="en-US" sz="1400" b="1" dirty="0">
                <a:solidFill>
                  <a:srgbClr val="1B2A33"/>
                </a:solidFill>
                <a:latin typeface="Calibri" pitchFamily="34" charset="0"/>
                <a:ea typeface="Calibri" pitchFamily="34" charset="-122"/>
                <a:cs typeface="Calibri" pitchFamily="34" charset="-120"/>
              </a:rPr>
              <a:t>RFID &amp; Security Gates</a:t>
            </a:r>
            <a:endParaRPr lang="en-US" sz="1400" dirty="0"/>
          </a:p>
        </p:txBody>
      </p:sp>
      <p:sp>
        <p:nvSpPr>
          <p:cNvPr id="15" name="Text 10"/>
          <p:cNvSpPr txBox="1"/>
          <p:nvPr/>
        </p:nvSpPr>
        <p:spPr>
          <a:xfrm>
            <a:off x="7406640" y="4663440"/>
            <a:ext cx="3931920" cy="320040"/>
          </a:xfrm>
          <a:prstGeom prst="rect">
            <a:avLst/>
          </a:prstGeom>
          <a:noFill/>
          <a:ln/>
        </p:spPr>
        <p:txBody>
          <a:bodyPr wrap="square" rtlCol="0" anchor="ctr"/>
          <a:lstStyle/>
          <a:p>
            <a:pPr indent="0" marL="0">
              <a:buNone/>
            </a:pPr>
            <a:r>
              <a:rPr lang="en-US" sz="1300" b="1" dirty="0">
                <a:solidFill>
                  <a:srgbClr val="1C7293"/>
                </a:solidFill>
                <a:latin typeface="Cambria" pitchFamily="34" charset="0"/>
                <a:ea typeface="Cambria" pitchFamily="34" charset="-122"/>
                <a:cs typeface="Cambria" pitchFamily="34" charset="-120"/>
              </a:rPr>
              <a:t>Why it matters</a:t>
            </a:r>
            <a:endParaRPr lang="en-US" sz="1300" dirty="0"/>
          </a:p>
        </p:txBody>
      </p:sp>
      <p:sp>
        <p:nvSpPr>
          <p:cNvPr id="16" name="Text 11"/>
          <p:cNvSpPr txBox="1"/>
          <p:nvPr/>
        </p:nvSpPr>
        <p:spPr>
          <a:xfrm>
            <a:off x="7406640" y="4983480"/>
            <a:ext cx="3931920" cy="731520"/>
          </a:xfrm>
          <a:prstGeom prst="rect">
            <a:avLst/>
          </a:prstGeom>
          <a:noFill/>
          <a:ln/>
        </p:spPr>
        <p:txBody>
          <a:bodyPr wrap="square" rtlCol="0" anchor="ctr"/>
          <a:lstStyle/>
          <a:p>
            <a:pPr indent="0" marL="0">
              <a:buNone/>
            </a:pPr>
            <a:r>
              <a:rPr lang="en-US" sz="1250" i="1" dirty="0">
                <a:solidFill>
                  <a:srgbClr val="5C6B73"/>
                </a:solidFill>
                <a:latin typeface="Calibri" pitchFamily="34" charset="0"/>
                <a:ea typeface="Calibri" pitchFamily="34" charset="-122"/>
                <a:cs typeface="Calibri" pitchFamily="34" charset="-120"/>
              </a:rPr>
              <a:t>Equipment downtime directly disrupts patron services and staff workflows.</a:t>
            </a:r>
            <a:endParaRPr lang="en-US" sz="1250" dirty="0"/>
          </a:p>
        </p:txBody>
      </p:sp>
      <p:sp>
        <p:nvSpPr>
          <p:cNvPr id="18" name="Text 1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19" name="Text 13"/>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Problem Statement</a:t>
            </a:r>
            <a:endParaRPr lang="en-US" sz="3600" dirty="0"/>
          </a:p>
        </p:txBody>
      </p:sp>
      <p:sp>
        <p:nvSpPr>
          <p:cNvPr id="3" name="Text 1"/>
          <p:cNvSpPr txBox="1"/>
          <p:nvPr/>
        </p:nvSpPr>
        <p:spPr>
          <a:xfrm>
            <a:off x="548640" y="1005840"/>
            <a:ext cx="9144000" cy="36576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Manual equipment tracking creates avoidable friction</a:t>
            </a:r>
            <a:endParaRPr lang="en-US" sz="1500" dirty="0"/>
          </a:p>
        </p:txBody>
      </p:sp>
      <p:sp>
        <p:nvSpPr>
          <p:cNvPr id="4" name="Shape 2"/>
          <p:cNvSpPr/>
          <p:nvPr/>
        </p:nvSpPr>
        <p:spPr>
          <a:xfrm>
            <a:off x="548640" y="1691640"/>
            <a:ext cx="2606040" cy="4206240"/>
          </a:xfrm>
          <a:prstGeom prst="roundRect">
            <a:avLst>
              <a:gd name="adj" fmla="val 3509"/>
            </a:avLst>
          </a:prstGeom>
          <a:solidFill>
            <a:srgbClr val="10314A"/>
          </a:solidFill>
          <a:ln/>
        </p:spPr>
      </p:sp>
      <p:sp>
        <p:nvSpPr>
          <p:cNvPr id="5" name="Shape 3"/>
          <p:cNvSpPr/>
          <p:nvPr/>
        </p:nvSpPr>
        <p:spPr>
          <a:xfrm>
            <a:off x="1508760" y="2057400"/>
            <a:ext cx="685800" cy="685800"/>
          </a:xfrm>
          <a:prstGeom prst="ellipse">
            <a:avLst/>
          </a:prstGeom>
          <a:solidFill>
            <a:srgbClr val="E8A33D"/>
          </a:solidFill>
          <a:ln/>
        </p:spPr>
      </p:sp>
      <p:pic>
        <p:nvPicPr>
          <p:cNvPr id="6" name="Image 0" descr="/home/claude/pptx_work/icon_warning.png">    </p:cNvPr>
          <p:cNvPicPr>
            <a:picLocks noChangeAspect="1"/>
          </p:cNvPicPr>
          <p:nvPr/>
        </p:nvPicPr>
        <p:blipFill>
          <a:blip r:embed="rId1"/>
          <a:stretch>
            <a:fillRect/>
          </a:stretch>
        </p:blipFill>
        <p:spPr>
          <a:xfrm>
            <a:off x="1687068" y="2235708"/>
            <a:ext cx="329184" cy="329184"/>
          </a:xfrm>
          <a:prstGeom prst="rect">
            <a:avLst/>
          </a:prstGeom>
        </p:spPr>
      </p:pic>
      <p:sp>
        <p:nvSpPr>
          <p:cNvPr id="7" name="Text 4"/>
          <p:cNvSpPr txBox="1"/>
          <p:nvPr/>
        </p:nvSpPr>
        <p:spPr>
          <a:xfrm>
            <a:off x="731520" y="2971800"/>
            <a:ext cx="2240280" cy="7315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Lost Records</a:t>
            </a:r>
            <a:endParaRPr lang="en-US" sz="1600" dirty="0"/>
          </a:p>
        </p:txBody>
      </p:sp>
      <p:sp>
        <p:nvSpPr>
          <p:cNvPr id="8" name="Text 5"/>
          <p:cNvSpPr txBox="1"/>
          <p:nvPr/>
        </p:nvSpPr>
        <p:spPr>
          <a:xfrm>
            <a:off x="777240" y="3703320"/>
            <a:ext cx="2148840" cy="1920240"/>
          </a:xfrm>
          <a:prstGeom prst="rect">
            <a:avLst/>
          </a:prstGeom>
          <a:noFill/>
          <a:ln/>
        </p:spPr>
        <p:txBody>
          <a:bodyPr wrap="square" rtlCol="0" anchor="ctr"/>
          <a:lstStyle/>
          <a:p>
            <a:pPr algn="ctr" indent="0" marL="0">
              <a:lnSpc>
                <a:spcPct val="125000"/>
              </a:lnSpc>
              <a:buNone/>
            </a:pPr>
            <a:r>
              <a:rPr lang="en-US" sz="1250" dirty="0">
                <a:solidFill>
                  <a:srgbClr val="C7D6DE"/>
                </a:solidFill>
                <a:latin typeface="Calibri" pitchFamily="34" charset="0"/>
                <a:ea typeface="Calibri" pitchFamily="34" charset="-122"/>
                <a:cs typeface="Calibri" pitchFamily="34" charset="-120"/>
              </a:rPr>
              <a:t>Paper logs and spreadsheets go missing or fall out of date.</a:t>
            </a:r>
            <a:endParaRPr lang="en-US" sz="1250" dirty="0"/>
          </a:p>
        </p:txBody>
      </p:sp>
      <p:sp>
        <p:nvSpPr>
          <p:cNvPr id="9" name="Shape 6"/>
          <p:cNvSpPr/>
          <p:nvPr/>
        </p:nvSpPr>
        <p:spPr>
          <a:xfrm>
            <a:off x="3383280" y="1691640"/>
            <a:ext cx="2606040" cy="4206240"/>
          </a:xfrm>
          <a:prstGeom prst="roundRect">
            <a:avLst>
              <a:gd name="adj" fmla="val 3509"/>
            </a:avLst>
          </a:prstGeom>
          <a:solidFill>
            <a:srgbClr val="10314A"/>
          </a:solidFill>
          <a:ln/>
        </p:spPr>
      </p:sp>
      <p:sp>
        <p:nvSpPr>
          <p:cNvPr id="10" name="Shape 7"/>
          <p:cNvSpPr/>
          <p:nvPr/>
        </p:nvSpPr>
        <p:spPr>
          <a:xfrm>
            <a:off x="4343400" y="2057400"/>
            <a:ext cx="685800" cy="685800"/>
          </a:xfrm>
          <a:prstGeom prst="ellipse">
            <a:avLst/>
          </a:prstGeom>
          <a:solidFill>
            <a:srgbClr val="E8A33D"/>
          </a:solidFill>
          <a:ln/>
        </p:spPr>
      </p:sp>
      <p:pic>
        <p:nvPicPr>
          <p:cNvPr id="11" name="Image 1" descr="/home/claude/pptx_work/icon_history.png">    </p:cNvPr>
          <p:cNvPicPr>
            <a:picLocks noChangeAspect="1"/>
          </p:cNvPicPr>
          <p:nvPr/>
        </p:nvPicPr>
        <p:blipFill>
          <a:blip r:embed="rId2"/>
          <a:stretch>
            <a:fillRect/>
          </a:stretch>
        </p:blipFill>
        <p:spPr>
          <a:xfrm>
            <a:off x="4521708" y="2235708"/>
            <a:ext cx="329184" cy="329184"/>
          </a:xfrm>
          <a:prstGeom prst="rect">
            <a:avLst/>
          </a:prstGeom>
        </p:spPr>
      </p:pic>
      <p:sp>
        <p:nvSpPr>
          <p:cNvPr id="12" name="Text 8"/>
          <p:cNvSpPr txBox="1"/>
          <p:nvPr/>
        </p:nvSpPr>
        <p:spPr>
          <a:xfrm>
            <a:off x="3566160" y="2971800"/>
            <a:ext cx="2240280" cy="7315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Delayed Repairs</a:t>
            </a:r>
            <a:endParaRPr lang="en-US" sz="1600" dirty="0"/>
          </a:p>
        </p:txBody>
      </p:sp>
      <p:sp>
        <p:nvSpPr>
          <p:cNvPr id="13" name="Text 9"/>
          <p:cNvSpPr txBox="1"/>
          <p:nvPr/>
        </p:nvSpPr>
        <p:spPr>
          <a:xfrm>
            <a:off x="3611880" y="3703320"/>
            <a:ext cx="2148840" cy="1920240"/>
          </a:xfrm>
          <a:prstGeom prst="rect">
            <a:avLst/>
          </a:prstGeom>
          <a:noFill/>
          <a:ln/>
        </p:spPr>
        <p:txBody>
          <a:bodyPr wrap="square" rtlCol="0" anchor="ctr"/>
          <a:lstStyle/>
          <a:p>
            <a:pPr algn="ctr" indent="0" marL="0">
              <a:lnSpc>
                <a:spcPct val="125000"/>
              </a:lnSpc>
              <a:buNone/>
            </a:pPr>
            <a:r>
              <a:rPr lang="en-US" sz="1250" dirty="0">
                <a:solidFill>
                  <a:srgbClr val="C7D6DE"/>
                </a:solidFill>
                <a:latin typeface="Calibri" pitchFamily="34" charset="0"/>
                <a:ea typeface="Calibri" pitchFamily="34" charset="-122"/>
                <a:cs typeface="Calibri" pitchFamily="34" charset="-120"/>
              </a:rPr>
              <a:t>Issues sit unreported for days before anyone notices.</a:t>
            </a:r>
            <a:endParaRPr lang="en-US" sz="1250" dirty="0"/>
          </a:p>
        </p:txBody>
      </p:sp>
      <p:sp>
        <p:nvSpPr>
          <p:cNvPr id="14" name="Shape 10"/>
          <p:cNvSpPr/>
          <p:nvPr/>
        </p:nvSpPr>
        <p:spPr>
          <a:xfrm>
            <a:off x="6217920" y="1691640"/>
            <a:ext cx="2606040" cy="4206240"/>
          </a:xfrm>
          <a:prstGeom prst="roundRect">
            <a:avLst>
              <a:gd name="adj" fmla="val 3509"/>
            </a:avLst>
          </a:prstGeom>
          <a:solidFill>
            <a:srgbClr val="10314A"/>
          </a:solidFill>
          <a:ln/>
        </p:spPr>
      </p:sp>
      <p:sp>
        <p:nvSpPr>
          <p:cNvPr id="15" name="Shape 11"/>
          <p:cNvSpPr/>
          <p:nvPr/>
        </p:nvSpPr>
        <p:spPr>
          <a:xfrm>
            <a:off x="7178040" y="2057400"/>
            <a:ext cx="685800" cy="685800"/>
          </a:xfrm>
          <a:prstGeom prst="ellipse">
            <a:avLst/>
          </a:prstGeom>
          <a:solidFill>
            <a:srgbClr val="E8A33D"/>
          </a:solidFill>
          <a:ln/>
        </p:spPr>
      </p:sp>
      <p:pic>
        <p:nvPicPr>
          <p:cNvPr id="16" name="Image 2" descr="/home/claude/pptx_work/icon_usercog.png">    </p:cNvPr>
          <p:cNvPicPr>
            <a:picLocks noChangeAspect="1"/>
          </p:cNvPicPr>
          <p:nvPr/>
        </p:nvPicPr>
        <p:blipFill>
          <a:blip r:embed="rId3"/>
          <a:stretch>
            <a:fillRect/>
          </a:stretch>
        </p:blipFill>
        <p:spPr>
          <a:xfrm>
            <a:off x="7356348" y="2235708"/>
            <a:ext cx="329184" cy="329184"/>
          </a:xfrm>
          <a:prstGeom prst="rect">
            <a:avLst/>
          </a:prstGeom>
        </p:spPr>
      </p:pic>
      <p:sp>
        <p:nvSpPr>
          <p:cNvPr id="17" name="Text 12"/>
          <p:cNvSpPr txBox="1"/>
          <p:nvPr/>
        </p:nvSpPr>
        <p:spPr>
          <a:xfrm>
            <a:off x="6400800" y="2971800"/>
            <a:ext cx="2240280" cy="7315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No Accountability</a:t>
            </a:r>
            <a:endParaRPr lang="en-US" sz="1600" dirty="0"/>
          </a:p>
        </p:txBody>
      </p:sp>
      <p:sp>
        <p:nvSpPr>
          <p:cNvPr id="18" name="Text 13"/>
          <p:cNvSpPr txBox="1"/>
          <p:nvPr/>
        </p:nvSpPr>
        <p:spPr>
          <a:xfrm>
            <a:off x="6446520" y="3703320"/>
            <a:ext cx="2148840" cy="1920240"/>
          </a:xfrm>
          <a:prstGeom prst="rect">
            <a:avLst/>
          </a:prstGeom>
          <a:noFill/>
          <a:ln/>
        </p:spPr>
        <p:txBody>
          <a:bodyPr wrap="square" rtlCol="0" anchor="ctr"/>
          <a:lstStyle/>
          <a:p>
            <a:pPr algn="ctr" indent="0" marL="0">
              <a:lnSpc>
                <a:spcPct val="125000"/>
              </a:lnSpc>
              <a:buNone/>
            </a:pPr>
            <a:r>
              <a:rPr lang="en-US" sz="1250" dirty="0">
                <a:solidFill>
                  <a:srgbClr val="C7D6DE"/>
                </a:solidFill>
                <a:latin typeface="Calibri" pitchFamily="34" charset="0"/>
                <a:ea typeface="Calibri" pitchFamily="34" charset="-122"/>
                <a:cs typeface="Calibri" pitchFamily="34" charset="-120"/>
              </a:rPr>
              <a:t>It's unclear who reported, assigned, or resolved an issue.</a:t>
            </a:r>
            <a:endParaRPr lang="en-US" sz="1250" dirty="0"/>
          </a:p>
        </p:txBody>
      </p:sp>
      <p:sp>
        <p:nvSpPr>
          <p:cNvPr id="19" name="Shape 14"/>
          <p:cNvSpPr/>
          <p:nvPr/>
        </p:nvSpPr>
        <p:spPr>
          <a:xfrm>
            <a:off x="9052560" y="1691640"/>
            <a:ext cx="2606040" cy="4206240"/>
          </a:xfrm>
          <a:prstGeom prst="roundRect">
            <a:avLst>
              <a:gd name="adj" fmla="val 3509"/>
            </a:avLst>
          </a:prstGeom>
          <a:solidFill>
            <a:srgbClr val="10314A"/>
          </a:solidFill>
          <a:ln/>
        </p:spPr>
      </p:sp>
      <p:sp>
        <p:nvSpPr>
          <p:cNvPr id="20" name="Shape 15"/>
          <p:cNvSpPr/>
          <p:nvPr/>
        </p:nvSpPr>
        <p:spPr>
          <a:xfrm>
            <a:off x="10012680" y="2057400"/>
            <a:ext cx="685800" cy="685800"/>
          </a:xfrm>
          <a:prstGeom prst="ellipse">
            <a:avLst/>
          </a:prstGeom>
          <a:solidFill>
            <a:srgbClr val="E8A33D"/>
          </a:solidFill>
          <a:ln/>
        </p:spPr>
      </p:sp>
      <p:pic>
        <p:nvPicPr>
          <p:cNvPr id="21" name="Image 3" descr="/home/claude/pptx_work/icon_tools.png">    </p:cNvPr>
          <p:cNvPicPr>
            <a:picLocks noChangeAspect="1"/>
          </p:cNvPicPr>
          <p:nvPr/>
        </p:nvPicPr>
        <p:blipFill>
          <a:blip r:embed="rId4"/>
          <a:stretch>
            <a:fillRect/>
          </a:stretch>
        </p:blipFill>
        <p:spPr>
          <a:xfrm>
            <a:off x="10190988" y="2235708"/>
            <a:ext cx="329184" cy="329184"/>
          </a:xfrm>
          <a:prstGeom prst="rect">
            <a:avLst/>
          </a:prstGeom>
        </p:spPr>
      </p:pic>
      <p:sp>
        <p:nvSpPr>
          <p:cNvPr id="22" name="Text 16"/>
          <p:cNvSpPr txBox="1"/>
          <p:nvPr/>
        </p:nvSpPr>
        <p:spPr>
          <a:xfrm>
            <a:off x="9235440" y="2971800"/>
            <a:ext cx="2240280" cy="7315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Equipment Downtime</a:t>
            </a:r>
            <a:endParaRPr lang="en-US" sz="1600" dirty="0"/>
          </a:p>
        </p:txBody>
      </p:sp>
      <p:sp>
        <p:nvSpPr>
          <p:cNvPr id="23" name="Text 17"/>
          <p:cNvSpPr txBox="1"/>
          <p:nvPr/>
        </p:nvSpPr>
        <p:spPr>
          <a:xfrm>
            <a:off x="9281160" y="3703320"/>
            <a:ext cx="2148840" cy="1920240"/>
          </a:xfrm>
          <a:prstGeom prst="rect">
            <a:avLst/>
          </a:prstGeom>
          <a:noFill/>
          <a:ln/>
        </p:spPr>
        <p:txBody>
          <a:bodyPr wrap="square" rtlCol="0" anchor="ctr"/>
          <a:lstStyle/>
          <a:p>
            <a:pPr algn="ctr" indent="0" marL="0">
              <a:lnSpc>
                <a:spcPct val="125000"/>
              </a:lnSpc>
              <a:buNone/>
            </a:pPr>
            <a:r>
              <a:rPr lang="en-US" sz="1250" dirty="0">
                <a:solidFill>
                  <a:srgbClr val="C7D6DE"/>
                </a:solidFill>
                <a:latin typeface="Calibri" pitchFamily="34" charset="0"/>
                <a:ea typeface="Calibri" pitchFamily="34" charset="-122"/>
                <a:cs typeface="Calibri" pitchFamily="34" charset="-120"/>
              </a:rPr>
              <a:t>Unavailable devices interrupt research and daily operations.</a:t>
            </a:r>
            <a:endParaRPr lang="en-US" sz="1250" dirty="0"/>
          </a:p>
        </p:txBody>
      </p:sp>
      <p:sp>
        <p:nvSpPr>
          <p:cNvPr id="25" name="Text 1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6B3"/>
                </a:solidFill>
                <a:latin typeface="Calibri" pitchFamily="34" charset="0"/>
                <a:ea typeface="Calibri" pitchFamily="34" charset="-122"/>
                <a:cs typeface="Calibri" pitchFamily="34" charset="-120"/>
              </a:rPr>
              <a:t>Library Equipment Maintenance System</a:t>
            </a:r>
            <a:endParaRPr lang="en-US" sz="900" dirty="0"/>
          </a:p>
        </p:txBody>
      </p:sp>
      <p:sp>
        <p:nvSpPr>
          <p:cNvPr id="26" name="Text 19"/>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8FA6B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Objectives</a:t>
            </a:r>
            <a:endParaRPr lang="en-US" sz="36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554480"/>
            <a:ext cx="777240" cy="777240"/>
          </a:xfrm>
          <a:prstGeom prst="ellipse">
            <a:avLst/>
          </a:prstGeom>
          <a:solidFill>
            <a:srgbClr val="065A82"/>
          </a:solidFill>
          <a:ln/>
        </p:spPr>
      </p:sp>
      <p:pic>
        <p:nvPicPr>
          <p:cNvPr id="5" name="Image 0" descr="/home/claude/pptx_work/icon_cogs.png">    </p:cNvPr>
          <p:cNvPicPr>
            <a:picLocks noChangeAspect="1"/>
          </p:cNvPicPr>
          <p:nvPr/>
        </p:nvPicPr>
        <p:blipFill>
          <a:blip r:embed="rId1"/>
          <a:stretch>
            <a:fillRect/>
          </a:stretch>
        </p:blipFill>
        <p:spPr>
          <a:xfrm>
            <a:off x="750722" y="1756562"/>
            <a:ext cx="373075" cy="373075"/>
          </a:xfrm>
          <a:prstGeom prst="rect">
            <a:avLst/>
          </a:prstGeom>
        </p:spPr>
      </p:pic>
      <p:sp>
        <p:nvSpPr>
          <p:cNvPr id="6" name="Text 3"/>
          <p:cNvSpPr txBox="1"/>
          <p:nvPr/>
        </p:nvSpPr>
        <p:spPr>
          <a:xfrm>
            <a:off x="1508760" y="1417320"/>
            <a:ext cx="4343400" cy="411480"/>
          </a:xfrm>
          <a:prstGeom prst="rect">
            <a:avLst/>
          </a:prstGeom>
          <a:noFill/>
          <a:ln/>
        </p:spPr>
        <p:txBody>
          <a:bodyPr wrap="square" rtlCol="0" anchor="ctr"/>
          <a:lstStyle/>
          <a:p>
            <a:pPr indent="0" marL="0">
              <a:buNone/>
            </a:pPr>
            <a:r>
              <a:rPr lang="en-US" sz="1800" b="1" dirty="0">
                <a:solidFill>
                  <a:srgbClr val="1B2A33"/>
                </a:solidFill>
                <a:latin typeface="Cambria" pitchFamily="34" charset="0"/>
                <a:ea typeface="Cambria" pitchFamily="34" charset="-122"/>
                <a:cs typeface="Cambria" pitchFamily="34" charset="-120"/>
              </a:rPr>
              <a:t>Automate Tracking</a:t>
            </a:r>
            <a:endParaRPr lang="en-US" sz="1800" dirty="0"/>
          </a:p>
        </p:txBody>
      </p:sp>
      <p:sp>
        <p:nvSpPr>
          <p:cNvPr id="7" name="Text 4"/>
          <p:cNvSpPr txBox="1"/>
          <p:nvPr/>
        </p:nvSpPr>
        <p:spPr>
          <a:xfrm>
            <a:off x="1508760" y="1874520"/>
            <a:ext cx="4343400" cy="1005840"/>
          </a:xfrm>
          <a:prstGeom prst="rect">
            <a:avLst/>
          </a:prstGeom>
          <a:noFill/>
          <a:ln/>
        </p:spPr>
        <p:txBody>
          <a:bodyPr wrap="square" rtlCol="0" anchor="ctr"/>
          <a:lstStyle/>
          <a:p>
            <a:pPr indent="0" marL="0">
              <a:lnSpc>
                <a:spcPct val="125000"/>
              </a:lnSpc>
              <a:buNone/>
            </a:pPr>
            <a:r>
              <a:rPr lang="en-US" sz="1350" dirty="0">
                <a:solidFill>
                  <a:srgbClr val="5C6B73"/>
                </a:solidFill>
                <a:latin typeface="Calibri" pitchFamily="34" charset="0"/>
                <a:ea typeface="Calibri" pitchFamily="34" charset="-122"/>
                <a:cs typeface="Calibri" pitchFamily="34" charset="-120"/>
              </a:rPr>
              <a:t>Digitally register and monitor every piece of equipment in real time.</a:t>
            </a:r>
            <a:endParaRPr lang="en-US" sz="1350" dirty="0"/>
          </a:p>
        </p:txBody>
      </p:sp>
      <p:sp>
        <p:nvSpPr>
          <p:cNvPr id="8" name="Shape 5"/>
          <p:cNvSpPr/>
          <p:nvPr/>
        </p:nvSpPr>
        <p:spPr>
          <a:xfrm>
            <a:off x="6355080" y="1554480"/>
            <a:ext cx="777240" cy="777240"/>
          </a:xfrm>
          <a:prstGeom prst="ellipse">
            <a:avLst/>
          </a:prstGeom>
          <a:solidFill>
            <a:srgbClr val="065A82"/>
          </a:solidFill>
          <a:ln/>
        </p:spPr>
      </p:sp>
      <p:pic>
        <p:nvPicPr>
          <p:cNvPr id="9" name="Image 1" descr="/home/claude/pptx_work/icon_chart.png">    </p:cNvPr>
          <p:cNvPicPr>
            <a:picLocks noChangeAspect="1"/>
          </p:cNvPicPr>
          <p:nvPr/>
        </p:nvPicPr>
        <p:blipFill>
          <a:blip r:embed="rId2"/>
          <a:stretch>
            <a:fillRect/>
          </a:stretch>
        </p:blipFill>
        <p:spPr>
          <a:xfrm>
            <a:off x="6557162" y="1756562"/>
            <a:ext cx="373075" cy="373075"/>
          </a:xfrm>
          <a:prstGeom prst="rect">
            <a:avLst/>
          </a:prstGeom>
        </p:spPr>
      </p:pic>
      <p:sp>
        <p:nvSpPr>
          <p:cNvPr id="10" name="Text 6"/>
          <p:cNvSpPr txBox="1"/>
          <p:nvPr/>
        </p:nvSpPr>
        <p:spPr>
          <a:xfrm>
            <a:off x="7315200" y="1417320"/>
            <a:ext cx="4343400" cy="411480"/>
          </a:xfrm>
          <a:prstGeom prst="rect">
            <a:avLst/>
          </a:prstGeom>
          <a:noFill/>
          <a:ln/>
        </p:spPr>
        <p:txBody>
          <a:bodyPr wrap="square" rtlCol="0" anchor="ctr"/>
          <a:lstStyle/>
          <a:p>
            <a:pPr indent="0" marL="0">
              <a:buNone/>
            </a:pPr>
            <a:r>
              <a:rPr lang="en-US" sz="1800" b="1" dirty="0">
                <a:solidFill>
                  <a:srgbClr val="1B2A33"/>
                </a:solidFill>
                <a:latin typeface="Cambria" pitchFamily="34" charset="0"/>
                <a:ea typeface="Cambria" pitchFamily="34" charset="-122"/>
                <a:cs typeface="Cambria" pitchFamily="34" charset="-120"/>
              </a:rPr>
              <a:t>Schedule Maintenance</a:t>
            </a:r>
            <a:endParaRPr lang="en-US" sz="1800" dirty="0"/>
          </a:p>
        </p:txBody>
      </p:sp>
      <p:sp>
        <p:nvSpPr>
          <p:cNvPr id="11" name="Text 7"/>
          <p:cNvSpPr txBox="1"/>
          <p:nvPr/>
        </p:nvSpPr>
        <p:spPr>
          <a:xfrm>
            <a:off x="7315200" y="1874520"/>
            <a:ext cx="4343400" cy="1005840"/>
          </a:xfrm>
          <a:prstGeom prst="rect">
            <a:avLst/>
          </a:prstGeom>
          <a:noFill/>
          <a:ln/>
        </p:spPr>
        <p:txBody>
          <a:bodyPr wrap="square" rtlCol="0" anchor="ctr"/>
          <a:lstStyle/>
          <a:p>
            <a:pPr indent="0" marL="0">
              <a:lnSpc>
                <a:spcPct val="125000"/>
              </a:lnSpc>
              <a:buNone/>
            </a:pPr>
            <a:r>
              <a:rPr lang="en-US" sz="1350" dirty="0">
                <a:solidFill>
                  <a:srgbClr val="5C6B73"/>
                </a:solidFill>
                <a:latin typeface="Calibri" pitchFamily="34" charset="0"/>
                <a:ea typeface="Calibri" pitchFamily="34" charset="-122"/>
                <a:cs typeface="Calibri" pitchFamily="34" charset="-120"/>
              </a:rPr>
              <a:t>Plan preventive maintenance instead of reacting to breakdowns.</a:t>
            </a:r>
            <a:endParaRPr lang="en-US" sz="1350" dirty="0"/>
          </a:p>
        </p:txBody>
      </p:sp>
      <p:sp>
        <p:nvSpPr>
          <p:cNvPr id="12" name="Shape 8"/>
          <p:cNvSpPr/>
          <p:nvPr/>
        </p:nvSpPr>
        <p:spPr>
          <a:xfrm>
            <a:off x="548640" y="3840480"/>
            <a:ext cx="777240" cy="777240"/>
          </a:xfrm>
          <a:prstGeom prst="ellipse">
            <a:avLst/>
          </a:prstGeom>
          <a:solidFill>
            <a:srgbClr val="065A82"/>
          </a:solidFill>
          <a:ln/>
        </p:spPr>
      </p:sp>
      <p:pic>
        <p:nvPicPr>
          <p:cNvPr id="13" name="Image 2" descr="/home/claude/pptx_work/icon_tools.png">    </p:cNvPr>
          <p:cNvPicPr>
            <a:picLocks noChangeAspect="1"/>
          </p:cNvPicPr>
          <p:nvPr/>
        </p:nvPicPr>
        <p:blipFill>
          <a:blip r:embed="rId3"/>
          <a:stretch>
            <a:fillRect/>
          </a:stretch>
        </p:blipFill>
        <p:spPr>
          <a:xfrm>
            <a:off x="750722" y="4042562"/>
            <a:ext cx="373075" cy="373075"/>
          </a:xfrm>
          <a:prstGeom prst="rect">
            <a:avLst/>
          </a:prstGeom>
        </p:spPr>
      </p:pic>
      <p:sp>
        <p:nvSpPr>
          <p:cNvPr id="14" name="Text 9"/>
          <p:cNvSpPr txBox="1"/>
          <p:nvPr/>
        </p:nvSpPr>
        <p:spPr>
          <a:xfrm>
            <a:off x="1508760" y="3703320"/>
            <a:ext cx="4343400" cy="411480"/>
          </a:xfrm>
          <a:prstGeom prst="rect">
            <a:avLst/>
          </a:prstGeom>
          <a:noFill/>
          <a:ln/>
        </p:spPr>
        <p:txBody>
          <a:bodyPr wrap="square" rtlCol="0" anchor="ctr"/>
          <a:lstStyle/>
          <a:p>
            <a:pPr indent="0" marL="0">
              <a:buNone/>
            </a:pPr>
            <a:r>
              <a:rPr lang="en-US" sz="1800" b="1" dirty="0">
                <a:solidFill>
                  <a:srgbClr val="1B2A33"/>
                </a:solidFill>
                <a:latin typeface="Cambria" pitchFamily="34" charset="0"/>
                <a:ea typeface="Cambria" pitchFamily="34" charset="-122"/>
                <a:cs typeface="Cambria" pitchFamily="34" charset="-120"/>
              </a:rPr>
              <a:t>Reduce Downtime</a:t>
            </a:r>
            <a:endParaRPr lang="en-US" sz="1800" dirty="0"/>
          </a:p>
        </p:txBody>
      </p:sp>
      <p:sp>
        <p:nvSpPr>
          <p:cNvPr id="15" name="Text 10"/>
          <p:cNvSpPr txBox="1"/>
          <p:nvPr/>
        </p:nvSpPr>
        <p:spPr>
          <a:xfrm>
            <a:off x="1508760" y="4160520"/>
            <a:ext cx="4343400" cy="1005840"/>
          </a:xfrm>
          <a:prstGeom prst="rect">
            <a:avLst/>
          </a:prstGeom>
          <a:noFill/>
          <a:ln/>
        </p:spPr>
        <p:txBody>
          <a:bodyPr wrap="square" rtlCol="0" anchor="ctr"/>
          <a:lstStyle/>
          <a:p>
            <a:pPr indent="0" marL="0">
              <a:lnSpc>
                <a:spcPct val="125000"/>
              </a:lnSpc>
              <a:buNone/>
            </a:pPr>
            <a:r>
              <a:rPr lang="en-US" sz="1350" dirty="0">
                <a:solidFill>
                  <a:srgbClr val="5C6B73"/>
                </a:solidFill>
                <a:latin typeface="Calibri" pitchFamily="34" charset="0"/>
                <a:ea typeface="Calibri" pitchFamily="34" charset="-122"/>
                <a:cs typeface="Calibri" pitchFamily="34" charset="-120"/>
              </a:rPr>
              <a:t>Speed up fault reporting and technician response.</a:t>
            </a:r>
            <a:endParaRPr lang="en-US" sz="1350" dirty="0"/>
          </a:p>
        </p:txBody>
      </p:sp>
      <p:sp>
        <p:nvSpPr>
          <p:cNvPr id="16" name="Shape 11"/>
          <p:cNvSpPr/>
          <p:nvPr/>
        </p:nvSpPr>
        <p:spPr>
          <a:xfrm>
            <a:off x="6355080" y="3840480"/>
            <a:ext cx="777240" cy="777240"/>
          </a:xfrm>
          <a:prstGeom prst="ellipse">
            <a:avLst/>
          </a:prstGeom>
          <a:solidFill>
            <a:srgbClr val="065A82"/>
          </a:solidFill>
          <a:ln/>
        </p:spPr>
      </p:sp>
      <p:pic>
        <p:nvPicPr>
          <p:cNvPr id="17" name="Image 3" descr="/home/claude/pptx_work/icon_clipboard.png">    </p:cNvPr>
          <p:cNvPicPr>
            <a:picLocks noChangeAspect="1"/>
          </p:cNvPicPr>
          <p:nvPr/>
        </p:nvPicPr>
        <p:blipFill>
          <a:blip r:embed="rId4"/>
          <a:stretch>
            <a:fillRect/>
          </a:stretch>
        </p:blipFill>
        <p:spPr>
          <a:xfrm>
            <a:off x="6557162" y="4042562"/>
            <a:ext cx="373075" cy="373075"/>
          </a:xfrm>
          <a:prstGeom prst="rect">
            <a:avLst/>
          </a:prstGeom>
        </p:spPr>
      </p:pic>
      <p:sp>
        <p:nvSpPr>
          <p:cNvPr id="18" name="Text 12"/>
          <p:cNvSpPr txBox="1"/>
          <p:nvPr/>
        </p:nvSpPr>
        <p:spPr>
          <a:xfrm>
            <a:off x="7315200" y="3703320"/>
            <a:ext cx="4343400" cy="411480"/>
          </a:xfrm>
          <a:prstGeom prst="rect">
            <a:avLst/>
          </a:prstGeom>
          <a:noFill/>
          <a:ln/>
        </p:spPr>
        <p:txBody>
          <a:bodyPr wrap="square" rtlCol="0" anchor="ctr"/>
          <a:lstStyle/>
          <a:p>
            <a:pPr indent="0" marL="0">
              <a:buNone/>
            </a:pPr>
            <a:r>
              <a:rPr lang="en-US" sz="1800" b="1" dirty="0">
                <a:solidFill>
                  <a:srgbClr val="1B2A33"/>
                </a:solidFill>
                <a:latin typeface="Cambria" pitchFamily="34" charset="0"/>
                <a:ea typeface="Cambria" pitchFamily="34" charset="-122"/>
                <a:cs typeface="Cambria" pitchFamily="34" charset="-120"/>
              </a:rPr>
              <a:t>Generate Reports</a:t>
            </a:r>
            <a:endParaRPr lang="en-US" sz="1800" dirty="0"/>
          </a:p>
        </p:txBody>
      </p:sp>
      <p:sp>
        <p:nvSpPr>
          <p:cNvPr id="19" name="Text 13"/>
          <p:cNvSpPr txBox="1"/>
          <p:nvPr/>
        </p:nvSpPr>
        <p:spPr>
          <a:xfrm>
            <a:off x="7315200" y="4160520"/>
            <a:ext cx="4343400" cy="1005840"/>
          </a:xfrm>
          <a:prstGeom prst="rect">
            <a:avLst/>
          </a:prstGeom>
          <a:noFill/>
          <a:ln/>
        </p:spPr>
        <p:txBody>
          <a:bodyPr wrap="square" rtlCol="0" anchor="ctr"/>
          <a:lstStyle/>
          <a:p>
            <a:pPr indent="0" marL="0">
              <a:lnSpc>
                <a:spcPct val="125000"/>
              </a:lnSpc>
              <a:buNone/>
            </a:pPr>
            <a:r>
              <a:rPr lang="en-US" sz="1350" dirty="0">
                <a:solidFill>
                  <a:srgbClr val="5C6B73"/>
                </a:solidFill>
                <a:latin typeface="Calibri" pitchFamily="34" charset="0"/>
                <a:ea typeface="Calibri" pitchFamily="34" charset="-122"/>
                <a:cs typeface="Calibri" pitchFamily="34" charset="-120"/>
              </a:rPr>
              <a:t>Produce maintenance history and performance reports on demand.</a:t>
            </a:r>
            <a:endParaRPr lang="en-US" sz="1350" dirty="0"/>
          </a:p>
        </p:txBody>
      </p:sp>
      <p:sp>
        <p:nvSpPr>
          <p:cNvPr id="21" name="Text 1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22" name="Text 15"/>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Scope of the System</a:t>
            </a:r>
            <a:endParaRPr lang="en-US" sz="3600" dirty="0"/>
          </a:p>
        </p:txBody>
      </p:sp>
      <p:sp>
        <p:nvSpPr>
          <p:cNvPr id="3" name="Text 1"/>
          <p:cNvSpPr txBox="1"/>
          <p:nvPr/>
        </p:nvSpPr>
        <p:spPr>
          <a:xfrm>
            <a:off x="548640" y="1005840"/>
            <a:ext cx="8229600" cy="365760"/>
          </a:xfrm>
          <a:prstGeom prst="rect">
            <a:avLst/>
          </a:prstGeom>
          <a:noFill/>
          <a:ln/>
        </p:spPr>
        <p:txBody>
          <a:bodyPr wrap="square" rtlCol="0" anchor="ctr"/>
          <a:lstStyle/>
          <a:p>
            <a:pPr indent="0" marL="0">
              <a:buNone/>
            </a:pPr>
            <a:r>
              <a:rPr lang="en-US" sz="1400" i="1" dirty="0">
                <a:solidFill>
                  <a:srgbClr val="5C6B73"/>
                </a:solidFill>
                <a:latin typeface="Calibri" pitchFamily="34" charset="0"/>
                <a:ea typeface="Calibri" pitchFamily="34" charset="-122"/>
                <a:cs typeface="Calibri" pitchFamily="34" charset="-120"/>
              </a:rPr>
              <a:t>Equipment categories covered by the platform</a:t>
            </a:r>
            <a:endParaRPr lang="en-US" sz="1400" dirty="0"/>
          </a:p>
        </p:txBody>
      </p:sp>
      <p:sp>
        <p:nvSpPr>
          <p:cNvPr id="4" name="Shape 2"/>
          <p:cNvSpPr/>
          <p:nvPr/>
        </p:nvSpPr>
        <p:spPr>
          <a:xfrm>
            <a:off x="548640" y="1737360"/>
            <a:ext cx="3520440" cy="1874520"/>
          </a:xfrm>
          <a:prstGeom prst="roundRect">
            <a:avLst>
              <a:gd name="adj" fmla="val 4878"/>
            </a:avLst>
          </a:prstGeom>
          <a:solidFill>
            <a:srgbClr val="F4F7F9"/>
          </a:solidFill>
          <a:ln/>
        </p:spPr>
      </p:sp>
      <p:sp>
        <p:nvSpPr>
          <p:cNvPr id="5" name="Shape 3"/>
          <p:cNvSpPr/>
          <p:nvPr/>
        </p:nvSpPr>
        <p:spPr>
          <a:xfrm>
            <a:off x="777240" y="1965960"/>
            <a:ext cx="640080" cy="640080"/>
          </a:xfrm>
          <a:prstGeom prst="ellipse">
            <a:avLst/>
          </a:prstGeom>
          <a:solidFill>
            <a:srgbClr val="1C7293"/>
          </a:solidFill>
          <a:ln/>
        </p:spPr>
      </p:sp>
      <p:pic>
        <p:nvPicPr>
          <p:cNvPr id="6" name="Image 0" descr="/home/claude/pptx_work/icon_laptop.png">    </p:cNvPr>
          <p:cNvPicPr>
            <a:picLocks noChangeAspect="1"/>
          </p:cNvPicPr>
          <p:nvPr/>
        </p:nvPicPr>
        <p:blipFill>
          <a:blip r:embed="rId1"/>
          <a:stretch>
            <a:fillRect/>
          </a:stretch>
        </p:blipFill>
        <p:spPr>
          <a:xfrm>
            <a:off x="943661" y="2132381"/>
            <a:ext cx="307238" cy="307238"/>
          </a:xfrm>
          <a:prstGeom prst="rect">
            <a:avLst/>
          </a:prstGeom>
        </p:spPr>
      </p:pic>
      <p:sp>
        <p:nvSpPr>
          <p:cNvPr id="7" name="Text 4"/>
          <p:cNvSpPr txBox="1"/>
          <p:nvPr/>
        </p:nvSpPr>
        <p:spPr>
          <a:xfrm>
            <a:off x="1554480" y="173736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Computers &amp; Terminals</a:t>
            </a:r>
            <a:endParaRPr lang="en-US" sz="1450" dirty="0"/>
          </a:p>
        </p:txBody>
      </p:sp>
      <p:sp>
        <p:nvSpPr>
          <p:cNvPr id="8" name="Shape 5"/>
          <p:cNvSpPr/>
          <p:nvPr/>
        </p:nvSpPr>
        <p:spPr>
          <a:xfrm>
            <a:off x="4343400" y="1737360"/>
            <a:ext cx="3520440" cy="1874520"/>
          </a:xfrm>
          <a:prstGeom prst="roundRect">
            <a:avLst>
              <a:gd name="adj" fmla="val 4878"/>
            </a:avLst>
          </a:prstGeom>
          <a:solidFill>
            <a:srgbClr val="F4F7F9"/>
          </a:solidFill>
          <a:ln/>
        </p:spPr>
      </p:sp>
      <p:sp>
        <p:nvSpPr>
          <p:cNvPr id="9" name="Shape 6"/>
          <p:cNvSpPr/>
          <p:nvPr/>
        </p:nvSpPr>
        <p:spPr>
          <a:xfrm>
            <a:off x="4572000" y="1965960"/>
            <a:ext cx="640080" cy="640080"/>
          </a:xfrm>
          <a:prstGeom prst="ellipse">
            <a:avLst/>
          </a:prstGeom>
          <a:solidFill>
            <a:srgbClr val="1C7293"/>
          </a:solidFill>
          <a:ln/>
        </p:spPr>
      </p:sp>
      <p:pic>
        <p:nvPicPr>
          <p:cNvPr id="10" name="Image 1" descr="/home/claude/pptx_work/icon_printer.png">    </p:cNvPr>
          <p:cNvPicPr>
            <a:picLocks noChangeAspect="1"/>
          </p:cNvPicPr>
          <p:nvPr/>
        </p:nvPicPr>
        <p:blipFill>
          <a:blip r:embed="rId2"/>
          <a:stretch>
            <a:fillRect/>
          </a:stretch>
        </p:blipFill>
        <p:spPr>
          <a:xfrm>
            <a:off x="4738421" y="2132381"/>
            <a:ext cx="307238" cy="307238"/>
          </a:xfrm>
          <a:prstGeom prst="rect">
            <a:avLst/>
          </a:prstGeom>
        </p:spPr>
      </p:pic>
      <p:sp>
        <p:nvSpPr>
          <p:cNvPr id="11" name="Text 7"/>
          <p:cNvSpPr txBox="1"/>
          <p:nvPr/>
        </p:nvSpPr>
        <p:spPr>
          <a:xfrm>
            <a:off x="5349240" y="173736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Printers &amp; Scanners</a:t>
            </a:r>
            <a:endParaRPr lang="en-US" sz="1450" dirty="0"/>
          </a:p>
        </p:txBody>
      </p:sp>
      <p:sp>
        <p:nvSpPr>
          <p:cNvPr id="12" name="Shape 8"/>
          <p:cNvSpPr/>
          <p:nvPr/>
        </p:nvSpPr>
        <p:spPr>
          <a:xfrm>
            <a:off x="8138160" y="1737360"/>
            <a:ext cx="3520440" cy="1874520"/>
          </a:xfrm>
          <a:prstGeom prst="roundRect">
            <a:avLst>
              <a:gd name="adj" fmla="val 4878"/>
            </a:avLst>
          </a:prstGeom>
          <a:solidFill>
            <a:srgbClr val="F4F7F9"/>
          </a:solidFill>
          <a:ln/>
        </p:spPr>
      </p:sp>
      <p:sp>
        <p:nvSpPr>
          <p:cNvPr id="13" name="Shape 9"/>
          <p:cNvSpPr/>
          <p:nvPr/>
        </p:nvSpPr>
        <p:spPr>
          <a:xfrm>
            <a:off x="8366760" y="1965960"/>
            <a:ext cx="640080" cy="640080"/>
          </a:xfrm>
          <a:prstGeom prst="ellipse">
            <a:avLst/>
          </a:prstGeom>
          <a:solidFill>
            <a:srgbClr val="1C7293"/>
          </a:solidFill>
          <a:ln/>
        </p:spPr>
      </p:sp>
      <p:pic>
        <p:nvPicPr>
          <p:cNvPr id="14" name="Image 2" descr="/home/claude/pptx_work/icon_chart.png">    </p:cNvPr>
          <p:cNvPicPr>
            <a:picLocks noChangeAspect="1"/>
          </p:cNvPicPr>
          <p:nvPr/>
        </p:nvPicPr>
        <p:blipFill>
          <a:blip r:embed="rId3"/>
          <a:stretch>
            <a:fillRect/>
          </a:stretch>
        </p:blipFill>
        <p:spPr>
          <a:xfrm>
            <a:off x="8533181" y="2132381"/>
            <a:ext cx="307238" cy="307238"/>
          </a:xfrm>
          <a:prstGeom prst="rect">
            <a:avLst/>
          </a:prstGeom>
        </p:spPr>
      </p:pic>
      <p:sp>
        <p:nvSpPr>
          <p:cNvPr id="15" name="Text 10"/>
          <p:cNvSpPr txBox="1"/>
          <p:nvPr/>
        </p:nvSpPr>
        <p:spPr>
          <a:xfrm>
            <a:off x="9144000" y="173736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Projectors &amp; Displays</a:t>
            </a:r>
            <a:endParaRPr lang="en-US" sz="1450" dirty="0"/>
          </a:p>
        </p:txBody>
      </p:sp>
      <p:sp>
        <p:nvSpPr>
          <p:cNvPr id="16" name="Shape 11"/>
          <p:cNvSpPr/>
          <p:nvPr/>
        </p:nvSpPr>
        <p:spPr>
          <a:xfrm>
            <a:off x="548640" y="3886200"/>
            <a:ext cx="3520440" cy="1874520"/>
          </a:xfrm>
          <a:prstGeom prst="roundRect">
            <a:avLst>
              <a:gd name="adj" fmla="val 4878"/>
            </a:avLst>
          </a:prstGeom>
          <a:solidFill>
            <a:srgbClr val="F4F7F9"/>
          </a:solidFill>
          <a:ln/>
        </p:spPr>
      </p:sp>
      <p:sp>
        <p:nvSpPr>
          <p:cNvPr id="17" name="Shape 12"/>
          <p:cNvSpPr/>
          <p:nvPr/>
        </p:nvSpPr>
        <p:spPr>
          <a:xfrm>
            <a:off x="777240" y="4114800"/>
            <a:ext cx="640080" cy="640080"/>
          </a:xfrm>
          <a:prstGeom prst="ellipse">
            <a:avLst/>
          </a:prstGeom>
          <a:solidFill>
            <a:srgbClr val="1C7293"/>
          </a:solidFill>
          <a:ln/>
        </p:spPr>
      </p:sp>
      <p:pic>
        <p:nvPicPr>
          <p:cNvPr id="18" name="Image 3" descr="/home/claude/pptx_work/icon_mapmarker.png">    </p:cNvPr>
          <p:cNvPicPr>
            <a:picLocks noChangeAspect="1"/>
          </p:cNvPicPr>
          <p:nvPr/>
        </p:nvPicPr>
        <p:blipFill>
          <a:blip r:embed="rId4"/>
          <a:stretch>
            <a:fillRect/>
          </a:stretch>
        </p:blipFill>
        <p:spPr>
          <a:xfrm>
            <a:off x="943661" y="4281221"/>
            <a:ext cx="307238" cy="307238"/>
          </a:xfrm>
          <a:prstGeom prst="rect">
            <a:avLst/>
          </a:prstGeom>
        </p:spPr>
      </p:pic>
      <p:sp>
        <p:nvSpPr>
          <p:cNvPr id="19" name="Text 13"/>
          <p:cNvSpPr txBox="1"/>
          <p:nvPr/>
        </p:nvSpPr>
        <p:spPr>
          <a:xfrm>
            <a:off x="1554480" y="388620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RFID Readers &amp; Gates</a:t>
            </a:r>
            <a:endParaRPr lang="en-US" sz="1450" dirty="0"/>
          </a:p>
        </p:txBody>
      </p:sp>
      <p:sp>
        <p:nvSpPr>
          <p:cNvPr id="20" name="Shape 14"/>
          <p:cNvSpPr/>
          <p:nvPr/>
        </p:nvSpPr>
        <p:spPr>
          <a:xfrm>
            <a:off x="4343400" y="3886200"/>
            <a:ext cx="3520440" cy="1874520"/>
          </a:xfrm>
          <a:prstGeom prst="roundRect">
            <a:avLst>
              <a:gd name="adj" fmla="val 4878"/>
            </a:avLst>
          </a:prstGeom>
          <a:solidFill>
            <a:srgbClr val="F4F7F9"/>
          </a:solidFill>
          <a:ln/>
        </p:spPr>
      </p:sp>
      <p:sp>
        <p:nvSpPr>
          <p:cNvPr id="21" name="Shape 15"/>
          <p:cNvSpPr/>
          <p:nvPr/>
        </p:nvSpPr>
        <p:spPr>
          <a:xfrm>
            <a:off x="4572000" y="4114800"/>
            <a:ext cx="640080" cy="640080"/>
          </a:xfrm>
          <a:prstGeom prst="ellipse">
            <a:avLst/>
          </a:prstGeom>
          <a:solidFill>
            <a:srgbClr val="1C7293"/>
          </a:solidFill>
          <a:ln/>
        </p:spPr>
      </p:sp>
      <p:pic>
        <p:nvPicPr>
          <p:cNvPr id="22" name="Image 4" descr="/home/claude/pptx_work/icon_book.png">    </p:cNvPr>
          <p:cNvPicPr>
            <a:picLocks noChangeAspect="1"/>
          </p:cNvPicPr>
          <p:nvPr/>
        </p:nvPicPr>
        <p:blipFill>
          <a:blip r:embed="rId5"/>
          <a:stretch>
            <a:fillRect/>
          </a:stretch>
        </p:blipFill>
        <p:spPr>
          <a:xfrm>
            <a:off x="4738421" y="4281221"/>
            <a:ext cx="307238" cy="307238"/>
          </a:xfrm>
          <a:prstGeom prst="rect">
            <a:avLst/>
          </a:prstGeom>
        </p:spPr>
      </p:pic>
      <p:sp>
        <p:nvSpPr>
          <p:cNvPr id="23" name="Text 16"/>
          <p:cNvSpPr txBox="1"/>
          <p:nvPr/>
        </p:nvSpPr>
        <p:spPr>
          <a:xfrm>
            <a:off x="5349240" y="388620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Furniture &amp; Fixtures</a:t>
            </a:r>
            <a:endParaRPr lang="en-US" sz="1450" dirty="0"/>
          </a:p>
        </p:txBody>
      </p:sp>
      <p:sp>
        <p:nvSpPr>
          <p:cNvPr id="24" name="Shape 17"/>
          <p:cNvSpPr/>
          <p:nvPr/>
        </p:nvSpPr>
        <p:spPr>
          <a:xfrm>
            <a:off x="8138160" y="3886200"/>
            <a:ext cx="3520440" cy="1874520"/>
          </a:xfrm>
          <a:prstGeom prst="roundRect">
            <a:avLst>
              <a:gd name="adj" fmla="val 4878"/>
            </a:avLst>
          </a:prstGeom>
          <a:solidFill>
            <a:srgbClr val="F4F7F9"/>
          </a:solidFill>
          <a:ln/>
        </p:spPr>
      </p:sp>
      <p:sp>
        <p:nvSpPr>
          <p:cNvPr id="25" name="Shape 18"/>
          <p:cNvSpPr/>
          <p:nvPr/>
        </p:nvSpPr>
        <p:spPr>
          <a:xfrm>
            <a:off x="8366760" y="4114800"/>
            <a:ext cx="640080" cy="640080"/>
          </a:xfrm>
          <a:prstGeom prst="ellipse">
            <a:avLst/>
          </a:prstGeom>
          <a:solidFill>
            <a:srgbClr val="1C7293"/>
          </a:solidFill>
          <a:ln/>
        </p:spPr>
      </p:sp>
      <p:pic>
        <p:nvPicPr>
          <p:cNvPr id="26" name="Image 5" descr="/home/claude/pptx_work/icon_server.png">    </p:cNvPr>
          <p:cNvPicPr>
            <a:picLocks noChangeAspect="1"/>
          </p:cNvPicPr>
          <p:nvPr/>
        </p:nvPicPr>
        <p:blipFill>
          <a:blip r:embed="rId6"/>
          <a:stretch>
            <a:fillRect/>
          </a:stretch>
        </p:blipFill>
        <p:spPr>
          <a:xfrm>
            <a:off x="8533181" y="4281221"/>
            <a:ext cx="307238" cy="307238"/>
          </a:xfrm>
          <a:prstGeom prst="rect">
            <a:avLst/>
          </a:prstGeom>
        </p:spPr>
      </p:pic>
      <p:sp>
        <p:nvSpPr>
          <p:cNvPr id="27" name="Text 19"/>
          <p:cNvSpPr txBox="1"/>
          <p:nvPr/>
        </p:nvSpPr>
        <p:spPr>
          <a:xfrm>
            <a:off x="9144000" y="3886200"/>
            <a:ext cx="2331720" cy="1874520"/>
          </a:xfrm>
          <a:prstGeom prst="rect">
            <a:avLst/>
          </a:prstGeom>
          <a:noFill/>
          <a:ln/>
        </p:spPr>
        <p:txBody>
          <a:bodyPr wrap="square" rtlCol="0" anchor="ctr"/>
          <a:lstStyle/>
          <a:p>
            <a:pPr indent="0" marL="0">
              <a:lnSpc>
                <a:spcPct val="115000"/>
              </a:lnSpc>
              <a:buNone/>
            </a:pPr>
            <a:r>
              <a:rPr lang="en-US" sz="1450" b="1" dirty="0">
                <a:solidFill>
                  <a:srgbClr val="1B2A33"/>
                </a:solidFill>
                <a:latin typeface="Calibri" pitchFamily="34" charset="0"/>
                <a:ea typeface="Calibri" pitchFamily="34" charset="-122"/>
                <a:cs typeface="Calibri" pitchFamily="34" charset="-120"/>
              </a:rPr>
              <a:t>Network &amp; Server Equipment</a:t>
            </a:r>
            <a:endParaRPr lang="en-US" sz="1450" dirty="0"/>
          </a:p>
        </p:txBody>
      </p:sp>
      <p:sp>
        <p:nvSpPr>
          <p:cNvPr id="29" name="Text 20"/>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30" name="Text 21"/>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System Features</a:t>
            </a:r>
            <a:endParaRPr lang="en-US" sz="36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417320"/>
            <a:ext cx="3520440" cy="2240280"/>
          </a:xfrm>
          <a:prstGeom prst="roundRect">
            <a:avLst>
              <a:gd name="adj" fmla="val 4082"/>
            </a:avLst>
          </a:prstGeom>
          <a:solidFill>
            <a:srgbClr val="F4F7F9"/>
          </a:solidFill>
          <a:ln/>
        </p:spPr>
      </p:sp>
      <p:sp>
        <p:nvSpPr>
          <p:cNvPr id="5" name="Shape 3"/>
          <p:cNvSpPr/>
          <p:nvPr/>
        </p:nvSpPr>
        <p:spPr>
          <a:xfrm>
            <a:off x="777240" y="1645920"/>
            <a:ext cx="594360" cy="594360"/>
          </a:xfrm>
          <a:prstGeom prst="ellipse">
            <a:avLst/>
          </a:prstGeom>
          <a:solidFill>
            <a:srgbClr val="065A82"/>
          </a:solidFill>
          <a:ln/>
        </p:spPr>
      </p:sp>
      <p:pic>
        <p:nvPicPr>
          <p:cNvPr id="6" name="Image 0" descr="/home/claude/pptx_work/icon_database.png">    </p:cNvPr>
          <p:cNvPicPr>
            <a:picLocks noChangeAspect="1"/>
          </p:cNvPicPr>
          <p:nvPr/>
        </p:nvPicPr>
        <p:blipFill>
          <a:blip r:embed="rId1"/>
          <a:stretch>
            <a:fillRect/>
          </a:stretch>
        </p:blipFill>
        <p:spPr>
          <a:xfrm>
            <a:off x="931774" y="1800454"/>
            <a:ext cx="285293" cy="285293"/>
          </a:xfrm>
          <a:prstGeom prst="rect">
            <a:avLst/>
          </a:prstGeom>
        </p:spPr>
      </p:pic>
      <p:sp>
        <p:nvSpPr>
          <p:cNvPr id="7" name="Text 4"/>
          <p:cNvSpPr txBox="1"/>
          <p:nvPr/>
        </p:nvSpPr>
        <p:spPr>
          <a:xfrm>
            <a:off x="777240" y="23774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Equipment Inventory</a:t>
            </a:r>
            <a:endParaRPr lang="en-US" sz="1400" dirty="0"/>
          </a:p>
        </p:txBody>
      </p:sp>
      <p:sp>
        <p:nvSpPr>
          <p:cNvPr id="8" name="Text 5"/>
          <p:cNvSpPr txBox="1"/>
          <p:nvPr/>
        </p:nvSpPr>
        <p:spPr>
          <a:xfrm>
            <a:off x="777240" y="27432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Central registry of all assets with location &amp; status.</a:t>
            </a:r>
            <a:endParaRPr lang="en-US" sz="1150" dirty="0"/>
          </a:p>
        </p:txBody>
      </p:sp>
      <p:sp>
        <p:nvSpPr>
          <p:cNvPr id="9" name="Shape 6"/>
          <p:cNvSpPr/>
          <p:nvPr/>
        </p:nvSpPr>
        <p:spPr>
          <a:xfrm>
            <a:off x="4343400" y="1417320"/>
            <a:ext cx="3520440" cy="2240280"/>
          </a:xfrm>
          <a:prstGeom prst="roundRect">
            <a:avLst>
              <a:gd name="adj" fmla="val 4082"/>
            </a:avLst>
          </a:prstGeom>
          <a:solidFill>
            <a:srgbClr val="F4F7F9"/>
          </a:solidFill>
          <a:ln/>
        </p:spPr>
      </p:sp>
      <p:sp>
        <p:nvSpPr>
          <p:cNvPr id="10" name="Shape 7"/>
          <p:cNvSpPr/>
          <p:nvPr/>
        </p:nvSpPr>
        <p:spPr>
          <a:xfrm>
            <a:off x="4572000" y="1645920"/>
            <a:ext cx="594360" cy="594360"/>
          </a:xfrm>
          <a:prstGeom prst="ellipse">
            <a:avLst/>
          </a:prstGeom>
          <a:solidFill>
            <a:srgbClr val="065A82"/>
          </a:solidFill>
          <a:ln/>
        </p:spPr>
      </p:sp>
      <p:pic>
        <p:nvPicPr>
          <p:cNvPr id="11" name="Image 1" descr="/home/claude/pptx_work/icon_chart.png">    </p:cNvPr>
          <p:cNvPicPr>
            <a:picLocks noChangeAspect="1"/>
          </p:cNvPicPr>
          <p:nvPr/>
        </p:nvPicPr>
        <p:blipFill>
          <a:blip r:embed="rId2"/>
          <a:stretch>
            <a:fillRect/>
          </a:stretch>
        </p:blipFill>
        <p:spPr>
          <a:xfrm>
            <a:off x="4726534" y="1800454"/>
            <a:ext cx="285293" cy="285293"/>
          </a:xfrm>
          <a:prstGeom prst="rect">
            <a:avLst/>
          </a:prstGeom>
        </p:spPr>
      </p:pic>
      <p:sp>
        <p:nvSpPr>
          <p:cNvPr id="12" name="Text 8"/>
          <p:cNvSpPr txBox="1"/>
          <p:nvPr/>
        </p:nvSpPr>
        <p:spPr>
          <a:xfrm>
            <a:off x="4572000" y="23774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Maintenance Scheduling</a:t>
            </a:r>
            <a:endParaRPr lang="en-US" sz="1400" dirty="0"/>
          </a:p>
        </p:txBody>
      </p:sp>
      <p:sp>
        <p:nvSpPr>
          <p:cNvPr id="13" name="Text 9"/>
          <p:cNvSpPr txBox="1"/>
          <p:nvPr/>
        </p:nvSpPr>
        <p:spPr>
          <a:xfrm>
            <a:off x="4572000" y="27432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Preventive service plans on a recurring calendar.</a:t>
            </a:r>
            <a:endParaRPr lang="en-US" sz="1150" dirty="0"/>
          </a:p>
        </p:txBody>
      </p:sp>
      <p:sp>
        <p:nvSpPr>
          <p:cNvPr id="14" name="Shape 10"/>
          <p:cNvSpPr/>
          <p:nvPr/>
        </p:nvSpPr>
        <p:spPr>
          <a:xfrm>
            <a:off x="8138160" y="1417320"/>
            <a:ext cx="3520440" cy="2240280"/>
          </a:xfrm>
          <a:prstGeom prst="roundRect">
            <a:avLst>
              <a:gd name="adj" fmla="val 4082"/>
            </a:avLst>
          </a:prstGeom>
          <a:solidFill>
            <a:srgbClr val="F4F7F9"/>
          </a:solidFill>
          <a:ln/>
        </p:spPr>
      </p:sp>
      <p:sp>
        <p:nvSpPr>
          <p:cNvPr id="15" name="Shape 11"/>
          <p:cNvSpPr/>
          <p:nvPr/>
        </p:nvSpPr>
        <p:spPr>
          <a:xfrm>
            <a:off x="8366760" y="1645920"/>
            <a:ext cx="594360" cy="594360"/>
          </a:xfrm>
          <a:prstGeom prst="ellipse">
            <a:avLst/>
          </a:prstGeom>
          <a:solidFill>
            <a:srgbClr val="065A82"/>
          </a:solidFill>
          <a:ln/>
        </p:spPr>
      </p:sp>
      <p:pic>
        <p:nvPicPr>
          <p:cNvPr id="16" name="Image 2" descr="/home/claude/pptx_work/icon_warning.png">    </p:cNvPr>
          <p:cNvPicPr>
            <a:picLocks noChangeAspect="1"/>
          </p:cNvPicPr>
          <p:nvPr/>
        </p:nvPicPr>
        <p:blipFill>
          <a:blip r:embed="rId3"/>
          <a:stretch>
            <a:fillRect/>
          </a:stretch>
        </p:blipFill>
        <p:spPr>
          <a:xfrm>
            <a:off x="8521294" y="1800454"/>
            <a:ext cx="285293" cy="285293"/>
          </a:xfrm>
          <a:prstGeom prst="rect">
            <a:avLst/>
          </a:prstGeom>
        </p:spPr>
      </p:pic>
      <p:sp>
        <p:nvSpPr>
          <p:cNvPr id="17" name="Text 12"/>
          <p:cNvSpPr txBox="1"/>
          <p:nvPr/>
        </p:nvSpPr>
        <p:spPr>
          <a:xfrm>
            <a:off x="8366760" y="23774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Fault / Issue Reporting</a:t>
            </a:r>
            <a:endParaRPr lang="en-US" sz="1400" dirty="0"/>
          </a:p>
        </p:txBody>
      </p:sp>
      <p:sp>
        <p:nvSpPr>
          <p:cNvPr id="18" name="Text 13"/>
          <p:cNvSpPr txBox="1"/>
          <p:nvPr/>
        </p:nvSpPr>
        <p:spPr>
          <a:xfrm>
            <a:off x="8366760" y="27432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Staff log problems instantly, with photos &amp; priority.</a:t>
            </a:r>
            <a:endParaRPr lang="en-US" sz="1150" dirty="0"/>
          </a:p>
        </p:txBody>
      </p:sp>
      <p:sp>
        <p:nvSpPr>
          <p:cNvPr id="19" name="Shape 14"/>
          <p:cNvSpPr/>
          <p:nvPr/>
        </p:nvSpPr>
        <p:spPr>
          <a:xfrm>
            <a:off x="548640" y="3931920"/>
            <a:ext cx="3520440" cy="2240280"/>
          </a:xfrm>
          <a:prstGeom prst="roundRect">
            <a:avLst>
              <a:gd name="adj" fmla="val 4082"/>
            </a:avLst>
          </a:prstGeom>
          <a:solidFill>
            <a:srgbClr val="F4F7F9"/>
          </a:solidFill>
          <a:ln/>
        </p:spPr>
      </p:sp>
      <p:sp>
        <p:nvSpPr>
          <p:cNvPr id="20" name="Shape 15"/>
          <p:cNvSpPr/>
          <p:nvPr/>
        </p:nvSpPr>
        <p:spPr>
          <a:xfrm>
            <a:off x="777240" y="4160520"/>
            <a:ext cx="594360" cy="594360"/>
          </a:xfrm>
          <a:prstGeom prst="ellipse">
            <a:avLst/>
          </a:prstGeom>
          <a:solidFill>
            <a:srgbClr val="065A82"/>
          </a:solidFill>
          <a:ln/>
        </p:spPr>
      </p:sp>
      <p:pic>
        <p:nvPicPr>
          <p:cNvPr id="21" name="Image 3" descr="/home/claude/pptx_work/icon_usercog.png">    </p:cNvPr>
          <p:cNvPicPr>
            <a:picLocks noChangeAspect="1"/>
          </p:cNvPicPr>
          <p:nvPr/>
        </p:nvPicPr>
        <p:blipFill>
          <a:blip r:embed="rId4"/>
          <a:stretch>
            <a:fillRect/>
          </a:stretch>
        </p:blipFill>
        <p:spPr>
          <a:xfrm>
            <a:off x="931774" y="4315054"/>
            <a:ext cx="285293" cy="285293"/>
          </a:xfrm>
          <a:prstGeom prst="rect">
            <a:avLst/>
          </a:prstGeom>
        </p:spPr>
      </p:pic>
      <p:sp>
        <p:nvSpPr>
          <p:cNvPr id="22" name="Text 16"/>
          <p:cNvSpPr txBox="1"/>
          <p:nvPr/>
        </p:nvSpPr>
        <p:spPr>
          <a:xfrm>
            <a:off x="777240" y="48920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Technician Assignment</a:t>
            </a:r>
            <a:endParaRPr lang="en-US" sz="1400" dirty="0"/>
          </a:p>
        </p:txBody>
      </p:sp>
      <p:sp>
        <p:nvSpPr>
          <p:cNvPr id="23" name="Text 17"/>
          <p:cNvSpPr txBox="1"/>
          <p:nvPr/>
        </p:nvSpPr>
        <p:spPr>
          <a:xfrm>
            <a:off x="777240" y="52578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Route issues to the right technician automatically.</a:t>
            </a:r>
            <a:endParaRPr lang="en-US" sz="1150" dirty="0"/>
          </a:p>
        </p:txBody>
      </p:sp>
      <p:sp>
        <p:nvSpPr>
          <p:cNvPr id="24" name="Shape 18"/>
          <p:cNvSpPr/>
          <p:nvPr/>
        </p:nvSpPr>
        <p:spPr>
          <a:xfrm>
            <a:off x="4343400" y="3931920"/>
            <a:ext cx="3520440" cy="2240280"/>
          </a:xfrm>
          <a:prstGeom prst="roundRect">
            <a:avLst>
              <a:gd name="adj" fmla="val 4082"/>
            </a:avLst>
          </a:prstGeom>
          <a:solidFill>
            <a:srgbClr val="F4F7F9"/>
          </a:solidFill>
          <a:ln/>
        </p:spPr>
      </p:sp>
      <p:sp>
        <p:nvSpPr>
          <p:cNvPr id="25" name="Shape 19"/>
          <p:cNvSpPr/>
          <p:nvPr/>
        </p:nvSpPr>
        <p:spPr>
          <a:xfrm>
            <a:off x="4572000" y="4160520"/>
            <a:ext cx="594360" cy="594360"/>
          </a:xfrm>
          <a:prstGeom prst="ellipse">
            <a:avLst/>
          </a:prstGeom>
          <a:solidFill>
            <a:srgbClr val="065A82"/>
          </a:solidFill>
          <a:ln/>
        </p:spPr>
      </p:sp>
      <p:pic>
        <p:nvPicPr>
          <p:cNvPr id="26" name="Image 4" descr="/home/claude/pptx_work/icon_history.png">    </p:cNvPr>
          <p:cNvPicPr>
            <a:picLocks noChangeAspect="1"/>
          </p:cNvPicPr>
          <p:nvPr/>
        </p:nvPicPr>
        <p:blipFill>
          <a:blip r:embed="rId5"/>
          <a:stretch>
            <a:fillRect/>
          </a:stretch>
        </p:blipFill>
        <p:spPr>
          <a:xfrm>
            <a:off x="4726534" y="4315054"/>
            <a:ext cx="285293" cy="285293"/>
          </a:xfrm>
          <a:prstGeom prst="rect">
            <a:avLst/>
          </a:prstGeom>
        </p:spPr>
      </p:pic>
      <p:sp>
        <p:nvSpPr>
          <p:cNvPr id="27" name="Text 20"/>
          <p:cNvSpPr txBox="1"/>
          <p:nvPr/>
        </p:nvSpPr>
        <p:spPr>
          <a:xfrm>
            <a:off x="4572000" y="48920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Maintenance History</a:t>
            </a:r>
            <a:endParaRPr lang="en-US" sz="1400" dirty="0"/>
          </a:p>
        </p:txBody>
      </p:sp>
      <p:sp>
        <p:nvSpPr>
          <p:cNvPr id="28" name="Text 21"/>
          <p:cNvSpPr txBox="1"/>
          <p:nvPr/>
        </p:nvSpPr>
        <p:spPr>
          <a:xfrm>
            <a:off x="4572000" y="52578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Full service log per asset for lifecycle tracking.</a:t>
            </a:r>
            <a:endParaRPr lang="en-US" sz="1150" dirty="0"/>
          </a:p>
        </p:txBody>
      </p:sp>
      <p:sp>
        <p:nvSpPr>
          <p:cNvPr id="29" name="Shape 22"/>
          <p:cNvSpPr/>
          <p:nvPr/>
        </p:nvSpPr>
        <p:spPr>
          <a:xfrm>
            <a:off x="8138160" y="3931920"/>
            <a:ext cx="3520440" cy="2240280"/>
          </a:xfrm>
          <a:prstGeom prst="roundRect">
            <a:avLst>
              <a:gd name="adj" fmla="val 4082"/>
            </a:avLst>
          </a:prstGeom>
          <a:solidFill>
            <a:srgbClr val="F4F7F9"/>
          </a:solidFill>
          <a:ln/>
        </p:spPr>
      </p:sp>
      <p:sp>
        <p:nvSpPr>
          <p:cNvPr id="30" name="Shape 23"/>
          <p:cNvSpPr/>
          <p:nvPr/>
        </p:nvSpPr>
        <p:spPr>
          <a:xfrm>
            <a:off x="8366760" y="4160520"/>
            <a:ext cx="594360" cy="594360"/>
          </a:xfrm>
          <a:prstGeom prst="ellipse">
            <a:avLst/>
          </a:prstGeom>
          <a:solidFill>
            <a:srgbClr val="065A82"/>
          </a:solidFill>
          <a:ln/>
        </p:spPr>
      </p:sp>
      <p:pic>
        <p:nvPicPr>
          <p:cNvPr id="31" name="Image 5" descr="/home/claude/pptx_work/icon_bell.png">    </p:cNvPr>
          <p:cNvPicPr>
            <a:picLocks noChangeAspect="1"/>
          </p:cNvPicPr>
          <p:nvPr/>
        </p:nvPicPr>
        <p:blipFill>
          <a:blip r:embed="rId6"/>
          <a:stretch>
            <a:fillRect/>
          </a:stretch>
        </p:blipFill>
        <p:spPr>
          <a:xfrm>
            <a:off x="8521294" y="4315054"/>
            <a:ext cx="285293" cy="285293"/>
          </a:xfrm>
          <a:prstGeom prst="rect">
            <a:avLst/>
          </a:prstGeom>
        </p:spPr>
      </p:pic>
      <p:sp>
        <p:nvSpPr>
          <p:cNvPr id="32" name="Text 24"/>
          <p:cNvSpPr txBox="1"/>
          <p:nvPr/>
        </p:nvSpPr>
        <p:spPr>
          <a:xfrm>
            <a:off x="8366760" y="4892040"/>
            <a:ext cx="3063240" cy="365760"/>
          </a:xfrm>
          <a:prstGeom prst="rect">
            <a:avLst/>
          </a:prstGeom>
          <a:noFill/>
          <a:ln/>
        </p:spPr>
        <p:txBody>
          <a:bodyPr wrap="square" rtlCol="0" anchor="ctr"/>
          <a:lstStyle/>
          <a:p>
            <a:pPr indent="0" marL="0">
              <a:buNone/>
            </a:pPr>
            <a:r>
              <a:rPr lang="en-US" sz="1400" b="1" dirty="0">
                <a:solidFill>
                  <a:srgbClr val="1B2A33"/>
                </a:solidFill>
                <a:latin typeface="Cambria" pitchFamily="34" charset="0"/>
                <a:ea typeface="Cambria" pitchFamily="34" charset="-122"/>
                <a:cs typeface="Cambria" pitchFamily="34" charset="-120"/>
              </a:rPr>
              <a:t>Alerts &amp; Notifications</a:t>
            </a:r>
            <a:endParaRPr lang="en-US" sz="1400" dirty="0"/>
          </a:p>
        </p:txBody>
      </p:sp>
      <p:sp>
        <p:nvSpPr>
          <p:cNvPr id="33" name="Text 25"/>
          <p:cNvSpPr txBox="1"/>
          <p:nvPr/>
        </p:nvSpPr>
        <p:spPr>
          <a:xfrm>
            <a:off x="8366760" y="5257800"/>
            <a:ext cx="3063240" cy="822960"/>
          </a:xfrm>
          <a:prstGeom prst="rect">
            <a:avLst/>
          </a:prstGeom>
          <a:noFill/>
          <a:ln/>
        </p:spPr>
        <p:txBody>
          <a:bodyPr wrap="square" rtlCol="0" anchor="ctr"/>
          <a:lstStyle/>
          <a:p>
            <a:pPr indent="0" marL="0">
              <a:lnSpc>
                <a:spcPct val="120000"/>
              </a:lnSpc>
              <a:buNone/>
            </a:pPr>
            <a:r>
              <a:rPr lang="en-US" sz="1150" dirty="0">
                <a:solidFill>
                  <a:srgbClr val="5C6B73"/>
                </a:solidFill>
                <a:latin typeface="Calibri" pitchFamily="34" charset="0"/>
                <a:ea typeface="Calibri" pitchFamily="34" charset="-122"/>
                <a:cs typeface="Calibri" pitchFamily="34" charset="-120"/>
              </a:rPr>
              <a:t>Reminders for due services and overdue repairs.</a:t>
            </a:r>
            <a:endParaRPr lang="en-US" sz="1150" dirty="0"/>
          </a:p>
        </p:txBody>
      </p:sp>
      <p:sp>
        <p:nvSpPr>
          <p:cNvPr id="35" name="Text 26"/>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36" name="Text 27"/>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System Architecture / Workflow</a:t>
            </a:r>
            <a:endParaRPr lang="en-US" sz="3200" dirty="0"/>
          </a:p>
        </p:txBody>
      </p:sp>
      <p:sp>
        <p:nvSpPr>
          <p:cNvPr id="3" name="Text 1"/>
          <p:cNvSpPr txBox="1"/>
          <p:nvPr/>
        </p:nvSpPr>
        <p:spPr>
          <a:xfrm>
            <a:off x="548640" y="1005840"/>
            <a:ext cx="91440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How a maintenance request flows through the system</a:t>
            </a:r>
            <a:endParaRPr lang="en-US" sz="1400" dirty="0"/>
          </a:p>
        </p:txBody>
      </p:sp>
      <p:sp>
        <p:nvSpPr>
          <p:cNvPr id="4" name="Shape 2"/>
          <p:cNvSpPr/>
          <p:nvPr/>
        </p:nvSpPr>
        <p:spPr>
          <a:xfrm>
            <a:off x="548640" y="2834640"/>
            <a:ext cx="1600200" cy="1600200"/>
          </a:xfrm>
          <a:prstGeom prst="roundRect">
            <a:avLst>
              <a:gd name="adj" fmla="val 6857"/>
            </a:avLst>
          </a:prstGeom>
          <a:solidFill>
            <a:srgbClr val="065A82"/>
          </a:solidFill>
          <a:ln/>
        </p:spPr>
      </p:sp>
      <p:pic>
        <p:nvPicPr>
          <p:cNvPr id="5" name="Image 0" descr="/home/claude/pptx_work/icon_clipboard.png">    </p:cNvPr>
          <p:cNvPicPr>
            <a:picLocks noChangeAspect="1"/>
          </p:cNvPicPr>
          <p:nvPr/>
        </p:nvPicPr>
        <p:blipFill>
          <a:blip r:embed="rId1"/>
          <a:stretch>
            <a:fillRect/>
          </a:stretch>
        </p:blipFill>
        <p:spPr>
          <a:xfrm>
            <a:off x="1056132" y="3090672"/>
            <a:ext cx="585216" cy="585216"/>
          </a:xfrm>
          <a:prstGeom prst="rect">
            <a:avLst/>
          </a:prstGeom>
        </p:spPr>
      </p:pic>
      <p:sp>
        <p:nvSpPr>
          <p:cNvPr id="6" name="Text 3"/>
          <p:cNvSpPr txBox="1"/>
          <p:nvPr/>
        </p:nvSpPr>
        <p:spPr>
          <a:xfrm>
            <a:off x="457200"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Equipment</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Registration</a:t>
            </a:r>
            <a:endParaRPr lang="en-US" sz="1150" dirty="0"/>
          </a:p>
        </p:txBody>
      </p:sp>
      <p:sp>
        <p:nvSpPr>
          <p:cNvPr id="7" name="Shape 4"/>
          <p:cNvSpPr/>
          <p:nvPr/>
        </p:nvSpPr>
        <p:spPr>
          <a:xfrm>
            <a:off x="2167128" y="3525012"/>
            <a:ext cx="256032" cy="219456"/>
          </a:xfrm>
          <a:prstGeom prst="rightArrow">
            <a:avLst/>
          </a:prstGeom>
          <a:solidFill>
            <a:srgbClr val="E8A33D"/>
          </a:solidFill>
          <a:ln/>
        </p:spPr>
      </p:sp>
      <p:sp>
        <p:nvSpPr>
          <p:cNvPr id="8" name="Shape 5"/>
          <p:cNvSpPr/>
          <p:nvPr/>
        </p:nvSpPr>
        <p:spPr>
          <a:xfrm>
            <a:off x="2441448" y="2834640"/>
            <a:ext cx="1600200" cy="1600200"/>
          </a:xfrm>
          <a:prstGeom prst="roundRect">
            <a:avLst>
              <a:gd name="adj" fmla="val 6857"/>
            </a:avLst>
          </a:prstGeom>
          <a:solidFill>
            <a:srgbClr val="065A82"/>
          </a:solidFill>
          <a:ln/>
        </p:spPr>
      </p:sp>
      <p:pic>
        <p:nvPicPr>
          <p:cNvPr id="9" name="Image 1" descr="/home/claude/pptx_work/icon_warning.png">    </p:cNvPr>
          <p:cNvPicPr>
            <a:picLocks noChangeAspect="1"/>
          </p:cNvPicPr>
          <p:nvPr/>
        </p:nvPicPr>
        <p:blipFill>
          <a:blip r:embed="rId2"/>
          <a:stretch>
            <a:fillRect/>
          </a:stretch>
        </p:blipFill>
        <p:spPr>
          <a:xfrm>
            <a:off x="2948940" y="3090672"/>
            <a:ext cx="585216" cy="585216"/>
          </a:xfrm>
          <a:prstGeom prst="rect">
            <a:avLst/>
          </a:prstGeom>
        </p:spPr>
      </p:pic>
      <p:sp>
        <p:nvSpPr>
          <p:cNvPr id="10" name="Text 6"/>
          <p:cNvSpPr txBox="1"/>
          <p:nvPr/>
        </p:nvSpPr>
        <p:spPr>
          <a:xfrm>
            <a:off x="2350008"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Issue</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Reporting</a:t>
            </a:r>
            <a:endParaRPr lang="en-US" sz="1150" dirty="0"/>
          </a:p>
        </p:txBody>
      </p:sp>
      <p:sp>
        <p:nvSpPr>
          <p:cNvPr id="11" name="Shape 7"/>
          <p:cNvSpPr/>
          <p:nvPr/>
        </p:nvSpPr>
        <p:spPr>
          <a:xfrm>
            <a:off x="4059936" y="3525012"/>
            <a:ext cx="256032" cy="219456"/>
          </a:xfrm>
          <a:prstGeom prst="rightArrow">
            <a:avLst/>
          </a:prstGeom>
          <a:solidFill>
            <a:srgbClr val="E8A33D"/>
          </a:solidFill>
          <a:ln/>
        </p:spPr>
      </p:sp>
      <p:sp>
        <p:nvSpPr>
          <p:cNvPr id="12" name="Shape 8"/>
          <p:cNvSpPr/>
          <p:nvPr/>
        </p:nvSpPr>
        <p:spPr>
          <a:xfrm>
            <a:off x="4334256" y="2834640"/>
            <a:ext cx="1600200" cy="1600200"/>
          </a:xfrm>
          <a:prstGeom prst="roundRect">
            <a:avLst>
              <a:gd name="adj" fmla="val 6857"/>
            </a:avLst>
          </a:prstGeom>
          <a:solidFill>
            <a:srgbClr val="065A82"/>
          </a:solidFill>
          <a:ln/>
        </p:spPr>
      </p:sp>
      <p:pic>
        <p:nvPicPr>
          <p:cNvPr id="13" name="Image 2" descr="/home/claude/pptx_work/icon_chart.png">    </p:cNvPr>
          <p:cNvPicPr>
            <a:picLocks noChangeAspect="1"/>
          </p:cNvPicPr>
          <p:nvPr/>
        </p:nvPicPr>
        <p:blipFill>
          <a:blip r:embed="rId3"/>
          <a:stretch>
            <a:fillRect/>
          </a:stretch>
        </p:blipFill>
        <p:spPr>
          <a:xfrm>
            <a:off x="4841748" y="3090672"/>
            <a:ext cx="585216" cy="585216"/>
          </a:xfrm>
          <a:prstGeom prst="rect">
            <a:avLst/>
          </a:prstGeom>
        </p:spPr>
      </p:pic>
      <p:sp>
        <p:nvSpPr>
          <p:cNvPr id="14" name="Text 9"/>
          <p:cNvSpPr txBox="1"/>
          <p:nvPr/>
        </p:nvSpPr>
        <p:spPr>
          <a:xfrm>
            <a:off x="4242816"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Maintenance</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Scheduling</a:t>
            </a:r>
            <a:endParaRPr lang="en-US" sz="1150" dirty="0"/>
          </a:p>
        </p:txBody>
      </p:sp>
      <p:sp>
        <p:nvSpPr>
          <p:cNvPr id="15" name="Shape 10"/>
          <p:cNvSpPr/>
          <p:nvPr/>
        </p:nvSpPr>
        <p:spPr>
          <a:xfrm>
            <a:off x="5952744" y="3525012"/>
            <a:ext cx="256032" cy="219456"/>
          </a:xfrm>
          <a:prstGeom prst="rightArrow">
            <a:avLst/>
          </a:prstGeom>
          <a:solidFill>
            <a:srgbClr val="E8A33D"/>
          </a:solidFill>
          <a:ln/>
        </p:spPr>
      </p:sp>
      <p:sp>
        <p:nvSpPr>
          <p:cNvPr id="16" name="Shape 11"/>
          <p:cNvSpPr/>
          <p:nvPr/>
        </p:nvSpPr>
        <p:spPr>
          <a:xfrm>
            <a:off x="6227064" y="2834640"/>
            <a:ext cx="1600200" cy="1600200"/>
          </a:xfrm>
          <a:prstGeom prst="roundRect">
            <a:avLst>
              <a:gd name="adj" fmla="val 6857"/>
            </a:avLst>
          </a:prstGeom>
          <a:solidFill>
            <a:srgbClr val="065A82"/>
          </a:solidFill>
          <a:ln/>
        </p:spPr>
      </p:sp>
      <p:pic>
        <p:nvPicPr>
          <p:cNvPr id="17" name="Image 3" descr="/home/claude/pptx_work/icon_tools.png">    </p:cNvPr>
          <p:cNvPicPr>
            <a:picLocks noChangeAspect="1"/>
          </p:cNvPicPr>
          <p:nvPr/>
        </p:nvPicPr>
        <p:blipFill>
          <a:blip r:embed="rId4"/>
          <a:stretch>
            <a:fillRect/>
          </a:stretch>
        </p:blipFill>
        <p:spPr>
          <a:xfrm>
            <a:off x="6734556" y="3090672"/>
            <a:ext cx="585216" cy="585216"/>
          </a:xfrm>
          <a:prstGeom prst="rect">
            <a:avLst/>
          </a:prstGeom>
        </p:spPr>
      </p:pic>
      <p:sp>
        <p:nvSpPr>
          <p:cNvPr id="18" name="Text 12"/>
          <p:cNvSpPr txBox="1"/>
          <p:nvPr/>
        </p:nvSpPr>
        <p:spPr>
          <a:xfrm>
            <a:off x="6135624"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Repair /</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p>
        </p:txBody>
      </p:sp>
      <p:sp>
        <p:nvSpPr>
          <p:cNvPr id="19" name="Shape 13"/>
          <p:cNvSpPr/>
          <p:nvPr/>
        </p:nvSpPr>
        <p:spPr>
          <a:xfrm>
            <a:off x="7845552" y="3525012"/>
            <a:ext cx="256032" cy="219456"/>
          </a:xfrm>
          <a:prstGeom prst="rightArrow">
            <a:avLst/>
          </a:prstGeom>
          <a:solidFill>
            <a:srgbClr val="E8A33D"/>
          </a:solidFill>
          <a:ln/>
        </p:spPr>
      </p:sp>
      <p:sp>
        <p:nvSpPr>
          <p:cNvPr id="20" name="Shape 14"/>
          <p:cNvSpPr/>
          <p:nvPr/>
        </p:nvSpPr>
        <p:spPr>
          <a:xfrm>
            <a:off x="8119872" y="2834640"/>
            <a:ext cx="1600200" cy="1600200"/>
          </a:xfrm>
          <a:prstGeom prst="roundRect">
            <a:avLst>
              <a:gd name="adj" fmla="val 6857"/>
            </a:avLst>
          </a:prstGeom>
          <a:solidFill>
            <a:srgbClr val="065A82"/>
          </a:solidFill>
          <a:ln/>
        </p:spPr>
      </p:sp>
      <p:pic>
        <p:nvPicPr>
          <p:cNvPr id="21" name="Image 4" descr="/home/claude/pptx_work/icon_check.png">    </p:cNvPr>
          <p:cNvPicPr>
            <a:picLocks noChangeAspect="1"/>
          </p:cNvPicPr>
          <p:nvPr/>
        </p:nvPicPr>
        <p:blipFill>
          <a:blip r:embed="rId5"/>
          <a:stretch>
            <a:fillRect/>
          </a:stretch>
        </p:blipFill>
        <p:spPr>
          <a:xfrm>
            <a:off x="8627364" y="3090672"/>
            <a:ext cx="585216" cy="585216"/>
          </a:xfrm>
          <a:prstGeom prst="rect">
            <a:avLst/>
          </a:prstGeom>
        </p:spPr>
      </p:pic>
      <p:sp>
        <p:nvSpPr>
          <p:cNvPr id="22" name="Text 15"/>
          <p:cNvSpPr txBox="1"/>
          <p:nvPr/>
        </p:nvSpPr>
        <p:spPr>
          <a:xfrm>
            <a:off x="8028432"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Update</a:t>
            </a:r>
            <a:endParaRPr lang="en-US" sz="1150" dirty="0"/>
          </a:p>
        </p:txBody>
      </p:sp>
      <p:sp>
        <p:nvSpPr>
          <p:cNvPr id="23" name="Shape 16"/>
          <p:cNvSpPr/>
          <p:nvPr/>
        </p:nvSpPr>
        <p:spPr>
          <a:xfrm>
            <a:off x="9738360" y="3525012"/>
            <a:ext cx="256032" cy="219456"/>
          </a:xfrm>
          <a:prstGeom prst="rightArrow">
            <a:avLst/>
          </a:prstGeom>
          <a:solidFill>
            <a:srgbClr val="E8A33D"/>
          </a:solidFill>
          <a:ln/>
        </p:spPr>
      </p:sp>
      <p:sp>
        <p:nvSpPr>
          <p:cNvPr id="24" name="Shape 17"/>
          <p:cNvSpPr/>
          <p:nvPr/>
        </p:nvSpPr>
        <p:spPr>
          <a:xfrm>
            <a:off x="10012680" y="2834640"/>
            <a:ext cx="1600200" cy="1600200"/>
          </a:xfrm>
          <a:prstGeom prst="roundRect">
            <a:avLst>
              <a:gd name="adj" fmla="val 6857"/>
            </a:avLst>
          </a:prstGeom>
          <a:solidFill>
            <a:srgbClr val="065A82"/>
          </a:solidFill>
          <a:ln/>
        </p:spPr>
      </p:sp>
      <p:pic>
        <p:nvPicPr>
          <p:cNvPr id="25" name="Image 5" descr="/home/claude/pptx_work/icon_database.png">    </p:cNvPr>
          <p:cNvPicPr>
            <a:picLocks noChangeAspect="1"/>
          </p:cNvPicPr>
          <p:nvPr/>
        </p:nvPicPr>
        <p:blipFill>
          <a:blip r:embed="rId6"/>
          <a:stretch>
            <a:fillRect/>
          </a:stretch>
        </p:blipFill>
        <p:spPr>
          <a:xfrm>
            <a:off x="10520172" y="3090672"/>
            <a:ext cx="585216" cy="585216"/>
          </a:xfrm>
          <a:prstGeom prst="rect">
            <a:avLst/>
          </a:prstGeom>
        </p:spPr>
      </p:pic>
      <p:sp>
        <p:nvSpPr>
          <p:cNvPr id="26" name="Text 18"/>
          <p:cNvSpPr txBox="1"/>
          <p:nvPr/>
        </p:nvSpPr>
        <p:spPr>
          <a:xfrm>
            <a:off x="9921240" y="3703320"/>
            <a:ext cx="1783080" cy="64008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Reporting</a:t>
            </a:r>
            <a:endParaRPr lang="en-US" sz="1150" dirty="0"/>
          </a:p>
        </p:txBody>
      </p:sp>
      <p:sp>
        <p:nvSpPr>
          <p:cNvPr id="28" name="Text 19"/>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6B3"/>
                </a:solidFill>
                <a:latin typeface="Calibri" pitchFamily="34" charset="0"/>
                <a:ea typeface="Calibri" pitchFamily="34" charset="-122"/>
                <a:cs typeface="Calibri" pitchFamily="34" charset="-120"/>
              </a:rPr>
              <a:t>Library Equipment Maintenance System</a:t>
            </a:r>
            <a:endParaRPr lang="en-US" sz="900" dirty="0"/>
          </a:p>
        </p:txBody>
      </p:sp>
      <p:sp>
        <p:nvSpPr>
          <p:cNvPr id="29" name="Text 20"/>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8FA6B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Technology Stack</a:t>
            </a:r>
            <a:endParaRPr lang="en-US" sz="36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417320"/>
            <a:ext cx="11064240" cy="1051560"/>
          </a:xfrm>
          <a:prstGeom prst="roundRect">
            <a:avLst>
              <a:gd name="adj" fmla="val 8696"/>
            </a:avLst>
          </a:prstGeom>
          <a:solidFill>
            <a:srgbClr val="F4F7F9"/>
          </a:solidFill>
          <a:ln/>
        </p:spPr>
      </p:sp>
      <p:sp>
        <p:nvSpPr>
          <p:cNvPr id="5" name="Shape 3"/>
          <p:cNvSpPr/>
          <p:nvPr/>
        </p:nvSpPr>
        <p:spPr>
          <a:xfrm>
            <a:off x="822960" y="1600200"/>
            <a:ext cx="685800" cy="685800"/>
          </a:xfrm>
          <a:prstGeom prst="ellipse">
            <a:avLst/>
          </a:prstGeom>
          <a:solidFill>
            <a:srgbClr val="065A82"/>
          </a:solidFill>
          <a:ln/>
        </p:spPr>
      </p:sp>
      <p:pic>
        <p:nvPicPr>
          <p:cNvPr id="6" name="Image 0" descr="/home/claude/pptx_work/icon_laptop.png">    </p:cNvPr>
          <p:cNvPicPr>
            <a:picLocks noChangeAspect="1"/>
          </p:cNvPicPr>
          <p:nvPr/>
        </p:nvPicPr>
        <p:blipFill>
          <a:blip r:embed="rId1"/>
          <a:stretch>
            <a:fillRect/>
          </a:stretch>
        </p:blipFill>
        <p:spPr>
          <a:xfrm>
            <a:off x="1001268" y="1778508"/>
            <a:ext cx="329184" cy="329184"/>
          </a:xfrm>
          <a:prstGeom prst="rect">
            <a:avLst/>
          </a:prstGeom>
        </p:spPr>
      </p:pic>
      <p:sp>
        <p:nvSpPr>
          <p:cNvPr id="7" name="Text 4"/>
          <p:cNvSpPr txBox="1"/>
          <p:nvPr/>
        </p:nvSpPr>
        <p:spPr>
          <a:xfrm>
            <a:off x="1783080" y="1527048"/>
            <a:ext cx="2377440" cy="832104"/>
          </a:xfrm>
          <a:prstGeom prst="rect">
            <a:avLst/>
          </a:prstGeom>
          <a:noFill/>
          <a:ln/>
        </p:spPr>
        <p:txBody>
          <a:bodyPr wrap="square" rtlCol="0" anchor="ctr"/>
          <a:lstStyle/>
          <a:p>
            <a:pPr indent="0" marL="0">
              <a:buNone/>
            </a:pPr>
            <a:r>
              <a:rPr lang="en-US" sz="1600" b="1" dirty="0">
                <a:solidFill>
                  <a:srgbClr val="1B2A33"/>
                </a:solidFill>
                <a:latin typeface="Cambria" pitchFamily="34" charset="0"/>
                <a:ea typeface="Cambria" pitchFamily="34" charset="-122"/>
                <a:cs typeface="Cambria" pitchFamily="34" charset="-120"/>
              </a:rPr>
              <a:t>Frontend</a:t>
            </a:r>
            <a:endParaRPr lang="en-US" sz="1600" dirty="0"/>
          </a:p>
        </p:txBody>
      </p:sp>
      <p:sp>
        <p:nvSpPr>
          <p:cNvPr id="8" name="Text 5"/>
          <p:cNvSpPr txBox="1"/>
          <p:nvPr/>
        </p:nvSpPr>
        <p:spPr>
          <a:xfrm>
            <a:off x="4251960" y="1527048"/>
            <a:ext cx="7040880" cy="832104"/>
          </a:xfrm>
          <a:prstGeom prst="rect">
            <a:avLst/>
          </a:prstGeom>
          <a:noFill/>
          <a:ln/>
        </p:spPr>
        <p:txBody>
          <a:bodyPr wrap="square" rtlCol="0" anchor="ctr"/>
          <a:lstStyle/>
          <a:p>
            <a:pPr indent="0" marL="0">
              <a:buNone/>
            </a:pPr>
            <a:r>
              <a:rPr lang="en-US" sz="1350" dirty="0">
                <a:solidFill>
                  <a:srgbClr val="5C6B73"/>
                </a:solidFill>
                <a:latin typeface="Calibri" pitchFamily="34" charset="0"/>
                <a:ea typeface="Calibri" pitchFamily="34" charset="-122"/>
                <a:cs typeface="Calibri" pitchFamily="34" charset="-120"/>
              </a:rPr>
              <a:t>React.js / responsive web dashboard for staff &amp; technicians</a:t>
            </a:r>
            <a:endParaRPr lang="en-US" sz="1350" dirty="0"/>
          </a:p>
        </p:txBody>
      </p:sp>
      <p:sp>
        <p:nvSpPr>
          <p:cNvPr id="9" name="Shape 6"/>
          <p:cNvSpPr/>
          <p:nvPr/>
        </p:nvSpPr>
        <p:spPr>
          <a:xfrm>
            <a:off x="548640" y="2606040"/>
            <a:ext cx="11064240" cy="1051560"/>
          </a:xfrm>
          <a:prstGeom prst="roundRect">
            <a:avLst>
              <a:gd name="adj" fmla="val 8696"/>
            </a:avLst>
          </a:prstGeom>
          <a:solidFill>
            <a:srgbClr val="F4F7F9"/>
          </a:solidFill>
          <a:ln/>
        </p:spPr>
      </p:sp>
      <p:sp>
        <p:nvSpPr>
          <p:cNvPr id="10" name="Shape 7"/>
          <p:cNvSpPr/>
          <p:nvPr/>
        </p:nvSpPr>
        <p:spPr>
          <a:xfrm>
            <a:off x="822960" y="2788920"/>
            <a:ext cx="685800" cy="685800"/>
          </a:xfrm>
          <a:prstGeom prst="ellipse">
            <a:avLst/>
          </a:prstGeom>
          <a:solidFill>
            <a:srgbClr val="1C7293"/>
          </a:solidFill>
          <a:ln/>
        </p:spPr>
      </p:sp>
      <p:pic>
        <p:nvPicPr>
          <p:cNvPr id="11" name="Image 1" descr="/home/claude/pptx_work/icon_server.png">    </p:cNvPr>
          <p:cNvPicPr>
            <a:picLocks noChangeAspect="1"/>
          </p:cNvPicPr>
          <p:nvPr/>
        </p:nvPicPr>
        <p:blipFill>
          <a:blip r:embed="rId2"/>
          <a:stretch>
            <a:fillRect/>
          </a:stretch>
        </p:blipFill>
        <p:spPr>
          <a:xfrm>
            <a:off x="1001268" y="2967228"/>
            <a:ext cx="329184" cy="329184"/>
          </a:xfrm>
          <a:prstGeom prst="rect">
            <a:avLst/>
          </a:prstGeom>
        </p:spPr>
      </p:pic>
      <p:sp>
        <p:nvSpPr>
          <p:cNvPr id="12" name="Text 8"/>
          <p:cNvSpPr txBox="1"/>
          <p:nvPr/>
        </p:nvSpPr>
        <p:spPr>
          <a:xfrm>
            <a:off x="1783080" y="2715768"/>
            <a:ext cx="2377440" cy="832104"/>
          </a:xfrm>
          <a:prstGeom prst="rect">
            <a:avLst/>
          </a:prstGeom>
          <a:noFill/>
          <a:ln/>
        </p:spPr>
        <p:txBody>
          <a:bodyPr wrap="square" rtlCol="0" anchor="ctr"/>
          <a:lstStyle/>
          <a:p>
            <a:pPr indent="0" marL="0">
              <a:buNone/>
            </a:pPr>
            <a:r>
              <a:rPr lang="en-US" sz="1600" b="1" dirty="0">
                <a:solidFill>
                  <a:srgbClr val="1B2A33"/>
                </a:solidFill>
                <a:latin typeface="Cambria" pitchFamily="34" charset="0"/>
                <a:ea typeface="Cambria" pitchFamily="34" charset="-122"/>
                <a:cs typeface="Cambria" pitchFamily="34" charset="-120"/>
              </a:rPr>
              <a:t>Backend</a:t>
            </a:r>
            <a:endParaRPr lang="en-US" sz="1600" dirty="0"/>
          </a:p>
        </p:txBody>
      </p:sp>
      <p:sp>
        <p:nvSpPr>
          <p:cNvPr id="13" name="Text 9"/>
          <p:cNvSpPr txBox="1"/>
          <p:nvPr/>
        </p:nvSpPr>
        <p:spPr>
          <a:xfrm>
            <a:off x="4251960" y="2715768"/>
            <a:ext cx="7040880" cy="832104"/>
          </a:xfrm>
          <a:prstGeom prst="rect">
            <a:avLst/>
          </a:prstGeom>
          <a:noFill/>
          <a:ln/>
        </p:spPr>
        <p:txBody>
          <a:bodyPr wrap="square" rtlCol="0" anchor="ctr"/>
          <a:lstStyle/>
          <a:p>
            <a:pPr indent="0" marL="0">
              <a:buNone/>
            </a:pPr>
            <a:r>
              <a:rPr lang="en-US" sz="1350" dirty="0">
                <a:solidFill>
                  <a:srgbClr val="5C6B73"/>
                </a:solidFill>
                <a:latin typeface="Calibri" pitchFamily="34" charset="0"/>
                <a:ea typeface="Calibri" pitchFamily="34" charset="-122"/>
                <a:cs typeface="Calibri" pitchFamily="34" charset="-120"/>
              </a:rPr>
              <a:t>Node.js (Express) REST API handling business logic</a:t>
            </a:r>
            <a:endParaRPr lang="en-US" sz="1350" dirty="0"/>
          </a:p>
        </p:txBody>
      </p:sp>
      <p:sp>
        <p:nvSpPr>
          <p:cNvPr id="14" name="Shape 10"/>
          <p:cNvSpPr/>
          <p:nvPr/>
        </p:nvSpPr>
        <p:spPr>
          <a:xfrm>
            <a:off x="548640" y="3794760"/>
            <a:ext cx="11064240" cy="1051560"/>
          </a:xfrm>
          <a:prstGeom prst="roundRect">
            <a:avLst>
              <a:gd name="adj" fmla="val 8696"/>
            </a:avLst>
          </a:prstGeom>
          <a:solidFill>
            <a:srgbClr val="F4F7F9"/>
          </a:solidFill>
          <a:ln/>
        </p:spPr>
      </p:sp>
      <p:sp>
        <p:nvSpPr>
          <p:cNvPr id="15" name="Shape 11"/>
          <p:cNvSpPr/>
          <p:nvPr/>
        </p:nvSpPr>
        <p:spPr>
          <a:xfrm>
            <a:off x="822960" y="3977640"/>
            <a:ext cx="685800" cy="685800"/>
          </a:xfrm>
          <a:prstGeom prst="ellipse">
            <a:avLst/>
          </a:prstGeom>
          <a:solidFill>
            <a:srgbClr val="065A82"/>
          </a:solidFill>
          <a:ln/>
        </p:spPr>
      </p:sp>
      <p:pic>
        <p:nvPicPr>
          <p:cNvPr id="16" name="Image 2" descr="/home/claude/pptx_work/icon_database.png">    </p:cNvPr>
          <p:cNvPicPr>
            <a:picLocks noChangeAspect="1"/>
          </p:cNvPicPr>
          <p:nvPr/>
        </p:nvPicPr>
        <p:blipFill>
          <a:blip r:embed="rId3"/>
          <a:stretch>
            <a:fillRect/>
          </a:stretch>
        </p:blipFill>
        <p:spPr>
          <a:xfrm>
            <a:off x="1001268" y="4155948"/>
            <a:ext cx="329184" cy="329184"/>
          </a:xfrm>
          <a:prstGeom prst="rect">
            <a:avLst/>
          </a:prstGeom>
        </p:spPr>
      </p:pic>
      <p:sp>
        <p:nvSpPr>
          <p:cNvPr id="17" name="Text 12"/>
          <p:cNvSpPr txBox="1"/>
          <p:nvPr/>
        </p:nvSpPr>
        <p:spPr>
          <a:xfrm>
            <a:off x="1783080" y="3904488"/>
            <a:ext cx="2377440" cy="832104"/>
          </a:xfrm>
          <a:prstGeom prst="rect">
            <a:avLst/>
          </a:prstGeom>
          <a:noFill/>
          <a:ln/>
        </p:spPr>
        <p:txBody>
          <a:bodyPr wrap="square" rtlCol="0" anchor="ctr"/>
          <a:lstStyle/>
          <a:p>
            <a:pPr indent="0" marL="0">
              <a:buNone/>
            </a:pPr>
            <a:r>
              <a:rPr lang="en-US" sz="1600" b="1" dirty="0">
                <a:solidFill>
                  <a:srgbClr val="1B2A33"/>
                </a:solidFill>
                <a:latin typeface="Cambria" pitchFamily="34" charset="0"/>
                <a:ea typeface="Cambria" pitchFamily="34" charset="-122"/>
                <a:cs typeface="Cambria" pitchFamily="34" charset="-120"/>
              </a:rPr>
              <a:t>Database</a:t>
            </a:r>
            <a:endParaRPr lang="en-US" sz="1600" dirty="0"/>
          </a:p>
        </p:txBody>
      </p:sp>
      <p:sp>
        <p:nvSpPr>
          <p:cNvPr id="18" name="Text 13"/>
          <p:cNvSpPr txBox="1"/>
          <p:nvPr/>
        </p:nvSpPr>
        <p:spPr>
          <a:xfrm>
            <a:off x="4251960" y="3904488"/>
            <a:ext cx="7040880" cy="832104"/>
          </a:xfrm>
          <a:prstGeom prst="rect">
            <a:avLst/>
          </a:prstGeom>
          <a:noFill/>
          <a:ln/>
        </p:spPr>
        <p:txBody>
          <a:bodyPr wrap="square" rtlCol="0" anchor="ctr"/>
          <a:lstStyle/>
          <a:p>
            <a:pPr indent="0" marL="0">
              <a:buNone/>
            </a:pPr>
            <a:r>
              <a:rPr lang="en-US" sz="1350" dirty="0">
                <a:solidFill>
                  <a:srgbClr val="5C6B73"/>
                </a:solidFill>
                <a:latin typeface="Calibri" pitchFamily="34" charset="0"/>
                <a:ea typeface="Calibri" pitchFamily="34" charset="-122"/>
                <a:cs typeface="Calibri" pitchFamily="34" charset="-120"/>
              </a:rPr>
              <a:t>MySQL / PostgreSQL for equipment &amp; maintenance records</a:t>
            </a:r>
            <a:endParaRPr lang="en-US" sz="1350" dirty="0"/>
          </a:p>
        </p:txBody>
      </p:sp>
      <p:sp>
        <p:nvSpPr>
          <p:cNvPr id="19" name="Shape 14"/>
          <p:cNvSpPr/>
          <p:nvPr/>
        </p:nvSpPr>
        <p:spPr>
          <a:xfrm>
            <a:off x="548640" y="4983480"/>
            <a:ext cx="11064240" cy="1051560"/>
          </a:xfrm>
          <a:prstGeom prst="roundRect">
            <a:avLst>
              <a:gd name="adj" fmla="val 8696"/>
            </a:avLst>
          </a:prstGeom>
          <a:solidFill>
            <a:srgbClr val="F4F7F9"/>
          </a:solidFill>
          <a:ln/>
        </p:spPr>
      </p:sp>
      <p:sp>
        <p:nvSpPr>
          <p:cNvPr id="20" name="Shape 15"/>
          <p:cNvSpPr/>
          <p:nvPr/>
        </p:nvSpPr>
        <p:spPr>
          <a:xfrm>
            <a:off x="822960" y="5166360"/>
            <a:ext cx="685800" cy="685800"/>
          </a:xfrm>
          <a:prstGeom prst="ellipse">
            <a:avLst/>
          </a:prstGeom>
          <a:solidFill>
            <a:srgbClr val="1C7293"/>
          </a:solidFill>
          <a:ln/>
        </p:spPr>
      </p:sp>
      <p:pic>
        <p:nvPicPr>
          <p:cNvPr id="21" name="Image 3" descr="/home/claude/pptx_work/icon_bell.png">    </p:cNvPr>
          <p:cNvPicPr>
            <a:picLocks noChangeAspect="1"/>
          </p:cNvPicPr>
          <p:nvPr/>
        </p:nvPicPr>
        <p:blipFill>
          <a:blip r:embed="rId4"/>
          <a:stretch>
            <a:fillRect/>
          </a:stretch>
        </p:blipFill>
        <p:spPr>
          <a:xfrm>
            <a:off x="1001268" y="5344668"/>
            <a:ext cx="329184" cy="329184"/>
          </a:xfrm>
          <a:prstGeom prst="rect">
            <a:avLst/>
          </a:prstGeom>
        </p:spPr>
      </p:pic>
      <p:sp>
        <p:nvSpPr>
          <p:cNvPr id="22" name="Text 16"/>
          <p:cNvSpPr txBox="1"/>
          <p:nvPr/>
        </p:nvSpPr>
        <p:spPr>
          <a:xfrm>
            <a:off x="1783080" y="5093208"/>
            <a:ext cx="2377440" cy="832104"/>
          </a:xfrm>
          <a:prstGeom prst="rect">
            <a:avLst/>
          </a:prstGeom>
          <a:noFill/>
          <a:ln/>
        </p:spPr>
        <p:txBody>
          <a:bodyPr wrap="square" rtlCol="0" anchor="ctr"/>
          <a:lstStyle/>
          <a:p>
            <a:pPr indent="0" marL="0">
              <a:buNone/>
            </a:pPr>
            <a:r>
              <a:rPr lang="en-US" sz="1600" b="1" dirty="0">
                <a:solidFill>
                  <a:srgbClr val="1B2A33"/>
                </a:solidFill>
                <a:latin typeface="Cambria" pitchFamily="34" charset="0"/>
                <a:ea typeface="Cambria" pitchFamily="34" charset="-122"/>
                <a:cs typeface="Cambria" pitchFamily="34" charset="-120"/>
              </a:rPr>
              <a:t>Notifications</a:t>
            </a:r>
            <a:endParaRPr lang="en-US" sz="1600" dirty="0"/>
          </a:p>
        </p:txBody>
      </p:sp>
      <p:sp>
        <p:nvSpPr>
          <p:cNvPr id="23" name="Text 17"/>
          <p:cNvSpPr txBox="1"/>
          <p:nvPr/>
        </p:nvSpPr>
        <p:spPr>
          <a:xfrm>
            <a:off x="4251960" y="5093208"/>
            <a:ext cx="7040880" cy="832104"/>
          </a:xfrm>
          <a:prstGeom prst="rect">
            <a:avLst/>
          </a:prstGeom>
          <a:noFill/>
          <a:ln/>
        </p:spPr>
        <p:txBody>
          <a:bodyPr wrap="square" rtlCol="0" anchor="ctr"/>
          <a:lstStyle/>
          <a:p>
            <a:pPr indent="0" marL="0">
              <a:buNone/>
            </a:pPr>
            <a:r>
              <a:rPr lang="en-US" sz="1350" dirty="0">
                <a:solidFill>
                  <a:srgbClr val="5C6B73"/>
                </a:solidFill>
                <a:latin typeface="Calibri" pitchFamily="34" charset="0"/>
                <a:ea typeface="Calibri" pitchFamily="34" charset="-122"/>
                <a:cs typeface="Calibri" pitchFamily="34" charset="-120"/>
              </a:rPr>
              <a:t>Email / SMS gateway for alerts and reminders</a:t>
            </a:r>
            <a:endParaRPr lang="en-US" sz="1350" dirty="0"/>
          </a:p>
        </p:txBody>
      </p:sp>
      <p:sp>
        <p:nvSpPr>
          <p:cNvPr id="25" name="Text 1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26" name="Text 19"/>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Database Design</a:t>
            </a:r>
            <a:endParaRPr lang="en-US" sz="3600" dirty="0"/>
          </a:p>
        </p:txBody>
      </p:sp>
      <p:sp>
        <p:nvSpPr>
          <p:cNvPr id="3" name="Text 1"/>
          <p:cNvSpPr txBox="1"/>
          <p:nvPr/>
        </p:nvSpPr>
        <p:spPr>
          <a:xfrm>
            <a:off x="548640" y="1005840"/>
            <a:ext cx="8229600" cy="365760"/>
          </a:xfrm>
          <a:prstGeom prst="rect">
            <a:avLst/>
          </a:prstGeom>
          <a:noFill/>
          <a:ln/>
        </p:spPr>
        <p:txBody>
          <a:bodyPr wrap="square" rtlCol="0" anchor="ctr"/>
          <a:lstStyle/>
          <a:p>
            <a:pPr indent="0" marL="0">
              <a:buNone/>
            </a:pPr>
            <a:r>
              <a:rPr lang="en-US" sz="1400" i="1" dirty="0">
                <a:solidFill>
                  <a:srgbClr val="5C6B73"/>
                </a:solidFill>
                <a:latin typeface="Calibri" pitchFamily="34" charset="0"/>
                <a:ea typeface="Calibri" pitchFamily="34" charset="-122"/>
                <a:cs typeface="Calibri" pitchFamily="34" charset="-120"/>
              </a:rPr>
              <a:t>Key entities and their relationships</a:t>
            </a:r>
            <a:endParaRPr lang="en-US" sz="1400" dirty="0"/>
          </a:p>
        </p:txBody>
      </p:sp>
      <p:sp>
        <p:nvSpPr>
          <p:cNvPr id="4" name="Shape 2"/>
          <p:cNvSpPr/>
          <p:nvPr/>
        </p:nvSpPr>
        <p:spPr>
          <a:xfrm>
            <a:off x="640080" y="1828800"/>
            <a:ext cx="3017520" cy="1371600"/>
          </a:xfrm>
          <a:prstGeom prst="roundRect">
            <a:avLst>
              <a:gd name="adj" fmla="val 5333"/>
            </a:avLst>
          </a:prstGeom>
          <a:solidFill>
            <a:srgbClr val="F4F7F9"/>
          </a:solidFill>
          <a:ln w="19050">
            <a:solidFill>
              <a:srgbClr val="065A82"/>
            </a:solidFill>
            <a:prstDash val="solid"/>
          </a:ln>
        </p:spPr>
      </p:sp>
      <p:sp>
        <p:nvSpPr>
          <p:cNvPr id="5" name="Shape 3"/>
          <p:cNvSpPr/>
          <p:nvPr/>
        </p:nvSpPr>
        <p:spPr>
          <a:xfrm>
            <a:off x="640080" y="1828800"/>
            <a:ext cx="3017520" cy="384048"/>
          </a:xfrm>
          <a:prstGeom prst="roundRect">
            <a:avLst>
              <a:gd name="adj" fmla="val 19048"/>
            </a:avLst>
          </a:prstGeom>
          <a:solidFill>
            <a:srgbClr val="065A82"/>
          </a:solidFill>
          <a:ln/>
        </p:spPr>
      </p:sp>
      <p:sp>
        <p:nvSpPr>
          <p:cNvPr id="6" name="Shape 4"/>
          <p:cNvSpPr/>
          <p:nvPr/>
        </p:nvSpPr>
        <p:spPr>
          <a:xfrm>
            <a:off x="640080" y="2011680"/>
            <a:ext cx="3017520" cy="201168"/>
          </a:xfrm>
          <a:prstGeom prst="rect">
            <a:avLst/>
          </a:prstGeom>
          <a:solidFill>
            <a:srgbClr val="065A82"/>
          </a:solidFill>
          <a:ln/>
        </p:spPr>
      </p:sp>
      <p:sp>
        <p:nvSpPr>
          <p:cNvPr id="7" name="Text 5"/>
          <p:cNvSpPr txBox="1"/>
          <p:nvPr/>
        </p:nvSpPr>
        <p:spPr>
          <a:xfrm>
            <a:off x="777240" y="1828800"/>
            <a:ext cx="2743200" cy="38404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Equipment</a:t>
            </a:r>
            <a:endParaRPr lang="en-US" sz="1400" dirty="0"/>
          </a:p>
        </p:txBody>
      </p:sp>
      <p:sp>
        <p:nvSpPr>
          <p:cNvPr id="8" name="Text 6"/>
          <p:cNvSpPr txBox="1"/>
          <p:nvPr/>
        </p:nvSpPr>
        <p:spPr>
          <a:xfrm>
            <a:off x="777240" y="2286000"/>
            <a:ext cx="2743200" cy="822960"/>
          </a:xfrm>
          <a:prstGeom prst="rect">
            <a:avLst/>
          </a:prstGeom>
          <a:noFill/>
          <a:ln/>
        </p:spPr>
        <p:txBody>
          <a:bodyPr wrap="square" rtlCol="0" anchor="t"/>
          <a:lstStyle/>
          <a:p>
            <a:pPr indent="0" marL="0">
              <a:lnSpc>
                <a:spcPct val="130000"/>
              </a:lnSpc>
              <a:buNone/>
            </a:pPr>
            <a:r>
              <a:rPr lang="en-US" sz="1150" dirty="0">
                <a:solidFill>
                  <a:srgbClr val="1B2A33"/>
                </a:solidFill>
                <a:latin typeface="Calibri" pitchFamily="34" charset="0"/>
                <a:ea typeface="Calibri" pitchFamily="34" charset="-122"/>
                <a:cs typeface="Calibri" pitchFamily="34" charset="-120"/>
              </a:rPr>
              <a:t>ID, Name, Category, Location</a:t>
            </a:r>
            <a:endParaRPr lang="en-US" sz="1150" dirty="0"/>
          </a:p>
        </p:txBody>
      </p:sp>
      <p:sp>
        <p:nvSpPr>
          <p:cNvPr id="9" name="Shape 7"/>
          <p:cNvSpPr/>
          <p:nvPr/>
        </p:nvSpPr>
        <p:spPr>
          <a:xfrm>
            <a:off x="4480560" y="1280160"/>
            <a:ext cx="3017520" cy="1371600"/>
          </a:xfrm>
          <a:prstGeom prst="roundRect">
            <a:avLst>
              <a:gd name="adj" fmla="val 5333"/>
            </a:avLst>
          </a:prstGeom>
          <a:solidFill>
            <a:srgbClr val="F4F7F9"/>
          </a:solidFill>
          <a:ln w="19050">
            <a:solidFill>
              <a:srgbClr val="E8A33D"/>
            </a:solidFill>
            <a:prstDash val="solid"/>
          </a:ln>
        </p:spPr>
      </p:sp>
      <p:sp>
        <p:nvSpPr>
          <p:cNvPr id="10" name="Shape 8"/>
          <p:cNvSpPr/>
          <p:nvPr/>
        </p:nvSpPr>
        <p:spPr>
          <a:xfrm>
            <a:off x="4480560" y="1280160"/>
            <a:ext cx="3017520" cy="384048"/>
          </a:xfrm>
          <a:prstGeom prst="roundRect">
            <a:avLst>
              <a:gd name="adj" fmla="val 19048"/>
            </a:avLst>
          </a:prstGeom>
          <a:solidFill>
            <a:srgbClr val="E8A33D"/>
          </a:solidFill>
          <a:ln/>
        </p:spPr>
      </p:sp>
      <p:sp>
        <p:nvSpPr>
          <p:cNvPr id="11" name="Shape 9"/>
          <p:cNvSpPr/>
          <p:nvPr/>
        </p:nvSpPr>
        <p:spPr>
          <a:xfrm>
            <a:off x="4480560" y="1463040"/>
            <a:ext cx="3017520" cy="201168"/>
          </a:xfrm>
          <a:prstGeom prst="rect">
            <a:avLst/>
          </a:prstGeom>
          <a:solidFill>
            <a:srgbClr val="E8A33D"/>
          </a:solidFill>
          <a:ln/>
        </p:spPr>
      </p:sp>
      <p:sp>
        <p:nvSpPr>
          <p:cNvPr id="12" name="Text 10"/>
          <p:cNvSpPr txBox="1"/>
          <p:nvPr/>
        </p:nvSpPr>
        <p:spPr>
          <a:xfrm>
            <a:off x="4617720" y="1280160"/>
            <a:ext cx="2743200" cy="38404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Maintenance Log</a:t>
            </a:r>
            <a:endParaRPr lang="en-US" sz="1400" dirty="0"/>
          </a:p>
        </p:txBody>
      </p:sp>
      <p:sp>
        <p:nvSpPr>
          <p:cNvPr id="13" name="Text 11"/>
          <p:cNvSpPr txBox="1"/>
          <p:nvPr/>
        </p:nvSpPr>
        <p:spPr>
          <a:xfrm>
            <a:off x="4617720" y="1737360"/>
            <a:ext cx="2743200" cy="822960"/>
          </a:xfrm>
          <a:prstGeom prst="rect">
            <a:avLst/>
          </a:prstGeom>
          <a:noFill/>
          <a:ln/>
        </p:spPr>
        <p:txBody>
          <a:bodyPr wrap="square" rtlCol="0" anchor="t"/>
          <a:lstStyle/>
          <a:p>
            <a:pPr indent="0" marL="0">
              <a:lnSpc>
                <a:spcPct val="130000"/>
              </a:lnSpc>
              <a:buNone/>
            </a:pPr>
            <a:r>
              <a:rPr lang="en-US" sz="1150" dirty="0">
                <a:solidFill>
                  <a:srgbClr val="1B2A33"/>
                </a:solidFill>
                <a:latin typeface="Calibri" pitchFamily="34" charset="0"/>
                <a:ea typeface="Calibri" pitchFamily="34" charset="-122"/>
                <a:cs typeface="Calibri" pitchFamily="34" charset="-120"/>
              </a:rPr>
              <a:t>ID, Equip ID, Date, Action</a:t>
            </a:r>
            <a:endParaRPr lang="en-US" sz="1150" dirty="0"/>
          </a:p>
        </p:txBody>
      </p:sp>
      <p:sp>
        <p:nvSpPr>
          <p:cNvPr id="14" name="Shape 12"/>
          <p:cNvSpPr/>
          <p:nvPr/>
        </p:nvSpPr>
        <p:spPr>
          <a:xfrm>
            <a:off x="8321040" y="1828800"/>
            <a:ext cx="3017520" cy="1371600"/>
          </a:xfrm>
          <a:prstGeom prst="roundRect">
            <a:avLst>
              <a:gd name="adj" fmla="val 5333"/>
            </a:avLst>
          </a:prstGeom>
          <a:solidFill>
            <a:srgbClr val="F4F7F9"/>
          </a:solidFill>
          <a:ln w="19050">
            <a:solidFill>
              <a:srgbClr val="065A82"/>
            </a:solidFill>
            <a:prstDash val="solid"/>
          </a:ln>
        </p:spPr>
      </p:sp>
      <p:sp>
        <p:nvSpPr>
          <p:cNvPr id="15" name="Shape 13"/>
          <p:cNvSpPr/>
          <p:nvPr/>
        </p:nvSpPr>
        <p:spPr>
          <a:xfrm>
            <a:off x="8321040" y="1828800"/>
            <a:ext cx="3017520" cy="384048"/>
          </a:xfrm>
          <a:prstGeom prst="roundRect">
            <a:avLst>
              <a:gd name="adj" fmla="val 19048"/>
            </a:avLst>
          </a:prstGeom>
          <a:solidFill>
            <a:srgbClr val="065A82"/>
          </a:solidFill>
          <a:ln/>
        </p:spPr>
      </p:sp>
      <p:sp>
        <p:nvSpPr>
          <p:cNvPr id="16" name="Shape 14"/>
          <p:cNvSpPr/>
          <p:nvPr/>
        </p:nvSpPr>
        <p:spPr>
          <a:xfrm>
            <a:off x="8321040" y="2011680"/>
            <a:ext cx="3017520" cy="201168"/>
          </a:xfrm>
          <a:prstGeom prst="rect">
            <a:avLst/>
          </a:prstGeom>
          <a:solidFill>
            <a:srgbClr val="065A82"/>
          </a:solidFill>
          <a:ln/>
        </p:spPr>
      </p:sp>
      <p:sp>
        <p:nvSpPr>
          <p:cNvPr id="17" name="Text 15"/>
          <p:cNvSpPr txBox="1"/>
          <p:nvPr/>
        </p:nvSpPr>
        <p:spPr>
          <a:xfrm>
            <a:off x="8458200" y="1828800"/>
            <a:ext cx="2743200" cy="38404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Technician</a:t>
            </a:r>
            <a:endParaRPr lang="en-US" sz="1400" dirty="0"/>
          </a:p>
        </p:txBody>
      </p:sp>
      <p:sp>
        <p:nvSpPr>
          <p:cNvPr id="18" name="Text 16"/>
          <p:cNvSpPr txBox="1"/>
          <p:nvPr/>
        </p:nvSpPr>
        <p:spPr>
          <a:xfrm>
            <a:off x="8458200" y="2286000"/>
            <a:ext cx="2743200" cy="822960"/>
          </a:xfrm>
          <a:prstGeom prst="rect">
            <a:avLst/>
          </a:prstGeom>
          <a:noFill/>
          <a:ln/>
        </p:spPr>
        <p:txBody>
          <a:bodyPr wrap="square" rtlCol="0" anchor="t"/>
          <a:lstStyle/>
          <a:p>
            <a:pPr indent="0" marL="0">
              <a:lnSpc>
                <a:spcPct val="130000"/>
              </a:lnSpc>
              <a:buNone/>
            </a:pPr>
            <a:r>
              <a:rPr lang="en-US" sz="1150" dirty="0">
                <a:solidFill>
                  <a:srgbClr val="1B2A33"/>
                </a:solidFill>
                <a:latin typeface="Calibri" pitchFamily="34" charset="0"/>
                <a:ea typeface="Calibri" pitchFamily="34" charset="-122"/>
                <a:cs typeface="Calibri" pitchFamily="34" charset="-120"/>
              </a:rPr>
              <a:t>ID, Name, Specialty, Contact</a:t>
            </a:r>
            <a:endParaRPr lang="en-US" sz="1150" dirty="0"/>
          </a:p>
        </p:txBody>
      </p:sp>
      <p:sp>
        <p:nvSpPr>
          <p:cNvPr id="19" name="Shape 17"/>
          <p:cNvSpPr/>
          <p:nvPr/>
        </p:nvSpPr>
        <p:spPr>
          <a:xfrm>
            <a:off x="640080" y="4297680"/>
            <a:ext cx="3017520" cy="1371600"/>
          </a:xfrm>
          <a:prstGeom prst="roundRect">
            <a:avLst>
              <a:gd name="adj" fmla="val 5333"/>
            </a:avLst>
          </a:prstGeom>
          <a:solidFill>
            <a:srgbClr val="F4F7F9"/>
          </a:solidFill>
          <a:ln w="19050">
            <a:solidFill>
              <a:srgbClr val="1C7293"/>
            </a:solidFill>
            <a:prstDash val="solid"/>
          </a:ln>
        </p:spPr>
      </p:sp>
      <p:sp>
        <p:nvSpPr>
          <p:cNvPr id="20" name="Shape 18"/>
          <p:cNvSpPr/>
          <p:nvPr/>
        </p:nvSpPr>
        <p:spPr>
          <a:xfrm>
            <a:off x="640080" y="4297680"/>
            <a:ext cx="3017520" cy="384048"/>
          </a:xfrm>
          <a:prstGeom prst="roundRect">
            <a:avLst>
              <a:gd name="adj" fmla="val 19048"/>
            </a:avLst>
          </a:prstGeom>
          <a:solidFill>
            <a:srgbClr val="1C7293"/>
          </a:solidFill>
          <a:ln/>
        </p:spPr>
      </p:sp>
      <p:sp>
        <p:nvSpPr>
          <p:cNvPr id="21" name="Shape 19"/>
          <p:cNvSpPr/>
          <p:nvPr/>
        </p:nvSpPr>
        <p:spPr>
          <a:xfrm>
            <a:off x="640080" y="4480560"/>
            <a:ext cx="3017520" cy="201168"/>
          </a:xfrm>
          <a:prstGeom prst="rect">
            <a:avLst/>
          </a:prstGeom>
          <a:solidFill>
            <a:srgbClr val="1C7293"/>
          </a:solidFill>
          <a:ln/>
        </p:spPr>
      </p:sp>
      <p:sp>
        <p:nvSpPr>
          <p:cNvPr id="22" name="Text 20"/>
          <p:cNvSpPr txBox="1"/>
          <p:nvPr/>
        </p:nvSpPr>
        <p:spPr>
          <a:xfrm>
            <a:off x="777240" y="4297680"/>
            <a:ext cx="2743200" cy="38404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Location</a:t>
            </a:r>
            <a:endParaRPr lang="en-US" sz="1400" dirty="0"/>
          </a:p>
        </p:txBody>
      </p:sp>
      <p:sp>
        <p:nvSpPr>
          <p:cNvPr id="23" name="Text 21"/>
          <p:cNvSpPr txBox="1"/>
          <p:nvPr/>
        </p:nvSpPr>
        <p:spPr>
          <a:xfrm>
            <a:off x="777240" y="4754880"/>
            <a:ext cx="2743200" cy="822960"/>
          </a:xfrm>
          <a:prstGeom prst="rect">
            <a:avLst/>
          </a:prstGeom>
          <a:noFill/>
          <a:ln/>
        </p:spPr>
        <p:txBody>
          <a:bodyPr wrap="square" rtlCol="0" anchor="t"/>
          <a:lstStyle/>
          <a:p>
            <a:pPr indent="0" marL="0">
              <a:lnSpc>
                <a:spcPct val="130000"/>
              </a:lnSpc>
              <a:buNone/>
            </a:pPr>
            <a:r>
              <a:rPr lang="en-US" sz="1150" dirty="0">
                <a:solidFill>
                  <a:srgbClr val="1B2A33"/>
                </a:solidFill>
                <a:latin typeface="Calibri" pitchFamily="34" charset="0"/>
                <a:ea typeface="Calibri" pitchFamily="34" charset="-122"/>
                <a:cs typeface="Calibri" pitchFamily="34" charset="-120"/>
              </a:rPr>
              <a:t>ID, Building, Floor, Room</a:t>
            </a:r>
            <a:endParaRPr lang="en-US" sz="1150" dirty="0"/>
          </a:p>
        </p:txBody>
      </p:sp>
      <p:sp>
        <p:nvSpPr>
          <p:cNvPr id="24" name="Shape 22"/>
          <p:cNvSpPr/>
          <p:nvPr/>
        </p:nvSpPr>
        <p:spPr>
          <a:xfrm>
            <a:off x="8321040" y="4297680"/>
            <a:ext cx="3017520" cy="1371600"/>
          </a:xfrm>
          <a:prstGeom prst="roundRect">
            <a:avLst>
              <a:gd name="adj" fmla="val 5333"/>
            </a:avLst>
          </a:prstGeom>
          <a:solidFill>
            <a:srgbClr val="F4F7F9"/>
          </a:solidFill>
          <a:ln w="19050">
            <a:solidFill>
              <a:srgbClr val="1C7293"/>
            </a:solidFill>
            <a:prstDash val="solid"/>
          </a:ln>
        </p:spPr>
      </p:sp>
      <p:sp>
        <p:nvSpPr>
          <p:cNvPr id="25" name="Shape 23"/>
          <p:cNvSpPr/>
          <p:nvPr/>
        </p:nvSpPr>
        <p:spPr>
          <a:xfrm>
            <a:off x="8321040" y="4297680"/>
            <a:ext cx="3017520" cy="384048"/>
          </a:xfrm>
          <a:prstGeom prst="roundRect">
            <a:avLst>
              <a:gd name="adj" fmla="val 19048"/>
            </a:avLst>
          </a:prstGeom>
          <a:solidFill>
            <a:srgbClr val="1C7293"/>
          </a:solidFill>
          <a:ln/>
        </p:spPr>
      </p:sp>
      <p:sp>
        <p:nvSpPr>
          <p:cNvPr id="26" name="Shape 24"/>
          <p:cNvSpPr/>
          <p:nvPr/>
        </p:nvSpPr>
        <p:spPr>
          <a:xfrm>
            <a:off x="8321040" y="4480560"/>
            <a:ext cx="3017520" cy="201168"/>
          </a:xfrm>
          <a:prstGeom prst="rect">
            <a:avLst/>
          </a:prstGeom>
          <a:solidFill>
            <a:srgbClr val="1C7293"/>
          </a:solidFill>
          <a:ln/>
        </p:spPr>
      </p:sp>
      <p:sp>
        <p:nvSpPr>
          <p:cNvPr id="27" name="Text 25"/>
          <p:cNvSpPr txBox="1"/>
          <p:nvPr/>
        </p:nvSpPr>
        <p:spPr>
          <a:xfrm>
            <a:off x="8458200" y="4297680"/>
            <a:ext cx="2743200" cy="38404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Status</a:t>
            </a:r>
            <a:endParaRPr lang="en-US" sz="1400" dirty="0"/>
          </a:p>
        </p:txBody>
      </p:sp>
      <p:sp>
        <p:nvSpPr>
          <p:cNvPr id="28" name="Text 26"/>
          <p:cNvSpPr txBox="1"/>
          <p:nvPr/>
        </p:nvSpPr>
        <p:spPr>
          <a:xfrm>
            <a:off x="8458200" y="4754880"/>
            <a:ext cx="2743200" cy="822960"/>
          </a:xfrm>
          <a:prstGeom prst="rect">
            <a:avLst/>
          </a:prstGeom>
          <a:noFill/>
          <a:ln/>
        </p:spPr>
        <p:txBody>
          <a:bodyPr wrap="square" rtlCol="0" anchor="t"/>
          <a:lstStyle/>
          <a:p>
            <a:pPr indent="0" marL="0">
              <a:lnSpc>
                <a:spcPct val="130000"/>
              </a:lnSpc>
              <a:buNone/>
            </a:pPr>
            <a:r>
              <a:rPr lang="en-US" sz="1150" dirty="0">
                <a:solidFill>
                  <a:srgbClr val="1B2A33"/>
                </a:solidFill>
                <a:latin typeface="Calibri" pitchFamily="34" charset="0"/>
                <a:ea typeface="Calibri" pitchFamily="34" charset="-122"/>
                <a:cs typeface="Calibri" pitchFamily="34" charset="-120"/>
              </a:rPr>
              <a:t>ID, State, Updated At</a:t>
            </a:r>
            <a:endParaRPr lang="en-US" sz="1150" dirty="0"/>
          </a:p>
        </p:txBody>
      </p:sp>
      <p:sp>
        <p:nvSpPr>
          <p:cNvPr id="29" name="Shape 27"/>
          <p:cNvSpPr/>
          <p:nvPr/>
        </p:nvSpPr>
        <p:spPr>
          <a:xfrm>
            <a:off x="3657600" y="1965960"/>
            <a:ext cx="822960" cy="548640"/>
          </a:xfrm>
          <a:prstGeom prst="line">
            <a:avLst/>
          </a:prstGeom>
          <a:noFill/>
          <a:ln w="15875">
            <a:solidFill>
              <a:srgbClr val="5C6B73"/>
            </a:solidFill>
            <a:prstDash val="dash"/>
          </a:ln>
        </p:spPr>
      </p:sp>
      <p:sp>
        <p:nvSpPr>
          <p:cNvPr id="30" name="Shape 28"/>
          <p:cNvSpPr/>
          <p:nvPr/>
        </p:nvSpPr>
        <p:spPr>
          <a:xfrm>
            <a:off x="7498080" y="1965960"/>
            <a:ext cx="822960" cy="548640"/>
          </a:xfrm>
          <a:prstGeom prst="line">
            <a:avLst/>
          </a:prstGeom>
          <a:noFill/>
          <a:ln w="15875">
            <a:solidFill>
              <a:srgbClr val="5C6B73"/>
            </a:solidFill>
            <a:prstDash val="dash"/>
          </a:ln>
        </p:spPr>
      </p:sp>
      <p:sp>
        <p:nvSpPr>
          <p:cNvPr id="31" name="Shape 29"/>
          <p:cNvSpPr/>
          <p:nvPr/>
        </p:nvSpPr>
        <p:spPr>
          <a:xfrm>
            <a:off x="2148840" y="3200400"/>
            <a:ext cx="0" cy="1097280"/>
          </a:xfrm>
          <a:prstGeom prst="line">
            <a:avLst/>
          </a:prstGeom>
          <a:noFill/>
          <a:ln w="15875">
            <a:solidFill>
              <a:srgbClr val="5C6B73"/>
            </a:solidFill>
            <a:prstDash val="dash"/>
          </a:ln>
        </p:spPr>
      </p:sp>
      <p:sp>
        <p:nvSpPr>
          <p:cNvPr id="32" name="Shape 30"/>
          <p:cNvSpPr/>
          <p:nvPr/>
        </p:nvSpPr>
        <p:spPr>
          <a:xfrm>
            <a:off x="9829800" y="3200400"/>
            <a:ext cx="0" cy="1097280"/>
          </a:xfrm>
          <a:prstGeom prst="line">
            <a:avLst/>
          </a:prstGeom>
          <a:noFill/>
          <a:ln w="15875">
            <a:solidFill>
              <a:srgbClr val="5C6B73"/>
            </a:solidFill>
            <a:prstDash val="dash"/>
          </a:ln>
        </p:spPr>
      </p:sp>
      <p:sp>
        <p:nvSpPr>
          <p:cNvPr id="34" name="Text 31"/>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35" name="Text 32"/>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Benefits</a:t>
            </a:r>
            <a:endParaRPr lang="en-US" sz="3600" dirty="0"/>
          </a:p>
        </p:txBody>
      </p:sp>
      <p:sp>
        <p:nvSpPr>
          <p:cNvPr id="3" name="Shape 1"/>
          <p:cNvSpPr/>
          <p:nvPr/>
        </p:nvSpPr>
        <p:spPr>
          <a:xfrm>
            <a:off x="548640" y="1051560"/>
            <a:ext cx="11064240" cy="18288"/>
          </a:xfrm>
          <a:prstGeom prst="rect">
            <a:avLst/>
          </a:prstGeom>
          <a:solidFill>
            <a:srgbClr val="1C3A52"/>
          </a:solidFill>
          <a:ln/>
        </p:spPr>
      </p:sp>
      <p:sp>
        <p:nvSpPr>
          <p:cNvPr id="4" name="Shape 2"/>
          <p:cNvSpPr/>
          <p:nvPr/>
        </p:nvSpPr>
        <p:spPr>
          <a:xfrm>
            <a:off x="548640" y="1417320"/>
            <a:ext cx="3520440" cy="1965960"/>
          </a:xfrm>
          <a:prstGeom prst="roundRect">
            <a:avLst>
              <a:gd name="adj" fmla="val 4651"/>
            </a:avLst>
          </a:prstGeom>
          <a:solidFill>
            <a:srgbClr val="10314A"/>
          </a:solidFill>
          <a:ln/>
        </p:spPr>
      </p:sp>
      <p:sp>
        <p:nvSpPr>
          <p:cNvPr id="5" name="Shape 3"/>
          <p:cNvSpPr/>
          <p:nvPr/>
        </p:nvSpPr>
        <p:spPr>
          <a:xfrm>
            <a:off x="777240" y="1645920"/>
            <a:ext cx="548640" cy="548640"/>
          </a:xfrm>
          <a:prstGeom prst="ellipse">
            <a:avLst/>
          </a:prstGeom>
          <a:solidFill>
            <a:srgbClr val="E8A33D"/>
          </a:solidFill>
          <a:ln/>
        </p:spPr>
      </p:sp>
      <p:pic>
        <p:nvPicPr>
          <p:cNvPr id="6" name="Image 0" descr="/home/claude/pptx_work/icon_tools.png">    </p:cNvPr>
          <p:cNvPicPr>
            <a:picLocks noChangeAspect="1"/>
          </p:cNvPicPr>
          <p:nvPr/>
        </p:nvPicPr>
        <p:blipFill>
          <a:blip r:embed="rId1"/>
          <a:stretch>
            <a:fillRect/>
          </a:stretch>
        </p:blipFill>
        <p:spPr>
          <a:xfrm>
            <a:off x="919886" y="1788566"/>
            <a:ext cx="263347" cy="263347"/>
          </a:xfrm>
          <a:prstGeom prst="rect">
            <a:avLst/>
          </a:prstGeom>
        </p:spPr>
      </p:pic>
      <p:sp>
        <p:nvSpPr>
          <p:cNvPr id="7" name="Text 4"/>
          <p:cNvSpPr txBox="1"/>
          <p:nvPr/>
        </p:nvSpPr>
        <p:spPr>
          <a:xfrm>
            <a:off x="777240" y="228600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Reduced Downtime</a:t>
            </a:r>
            <a:endParaRPr lang="en-US" sz="1350" dirty="0"/>
          </a:p>
        </p:txBody>
      </p:sp>
      <p:sp>
        <p:nvSpPr>
          <p:cNvPr id="8" name="Text 5"/>
          <p:cNvSpPr txBox="1"/>
          <p:nvPr/>
        </p:nvSpPr>
        <p:spPr>
          <a:xfrm>
            <a:off x="777240" y="265176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Faster fault detection and repair turnaround.</a:t>
            </a:r>
            <a:endParaRPr lang="en-US" sz="1100" dirty="0"/>
          </a:p>
        </p:txBody>
      </p:sp>
      <p:sp>
        <p:nvSpPr>
          <p:cNvPr id="9" name="Shape 6"/>
          <p:cNvSpPr/>
          <p:nvPr/>
        </p:nvSpPr>
        <p:spPr>
          <a:xfrm>
            <a:off x="4343400" y="1417320"/>
            <a:ext cx="3520440" cy="1965960"/>
          </a:xfrm>
          <a:prstGeom prst="roundRect">
            <a:avLst>
              <a:gd name="adj" fmla="val 4651"/>
            </a:avLst>
          </a:prstGeom>
          <a:solidFill>
            <a:srgbClr val="10314A"/>
          </a:solidFill>
          <a:ln/>
        </p:spPr>
      </p:sp>
      <p:sp>
        <p:nvSpPr>
          <p:cNvPr id="10" name="Shape 7"/>
          <p:cNvSpPr/>
          <p:nvPr/>
        </p:nvSpPr>
        <p:spPr>
          <a:xfrm>
            <a:off x="4572000" y="1645920"/>
            <a:ext cx="548640" cy="548640"/>
          </a:xfrm>
          <a:prstGeom prst="ellipse">
            <a:avLst/>
          </a:prstGeom>
          <a:solidFill>
            <a:srgbClr val="E8A33D"/>
          </a:solidFill>
          <a:ln/>
        </p:spPr>
      </p:sp>
      <p:pic>
        <p:nvPicPr>
          <p:cNvPr id="11" name="Image 1" descr="/home/claude/pptx_work/icon_chart.png">    </p:cNvPr>
          <p:cNvPicPr>
            <a:picLocks noChangeAspect="1"/>
          </p:cNvPicPr>
          <p:nvPr/>
        </p:nvPicPr>
        <p:blipFill>
          <a:blip r:embed="rId2"/>
          <a:stretch>
            <a:fillRect/>
          </a:stretch>
        </p:blipFill>
        <p:spPr>
          <a:xfrm>
            <a:off x="4714646" y="1788566"/>
            <a:ext cx="263347" cy="263347"/>
          </a:xfrm>
          <a:prstGeom prst="rect">
            <a:avLst/>
          </a:prstGeom>
        </p:spPr>
      </p:pic>
      <p:sp>
        <p:nvSpPr>
          <p:cNvPr id="12" name="Text 8"/>
          <p:cNvSpPr txBox="1"/>
          <p:nvPr/>
        </p:nvSpPr>
        <p:spPr>
          <a:xfrm>
            <a:off x="4572000" y="228600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Cost Savings</a:t>
            </a:r>
            <a:endParaRPr lang="en-US" sz="1350" dirty="0"/>
          </a:p>
        </p:txBody>
      </p:sp>
      <p:sp>
        <p:nvSpPr>
          <p:cNvPr id="13" name="Text 9"/>
          <p:cNvSpPr txBox="1"/>
          <p:nvPr/>
        </p:nvSpPr>
        <p:spPr>
          <a:xfrm>
            <a:off x="4572000" y="265176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Preventive care avoids costly emergency repairs.</a:t>
            </a:r>
            <a:endParaRPr lang="en-US" sz="1100" dirty="0"/>
          </a:p>
        </p:txBody>
      </p:sp>
      <p:sp>
        <p:nvSpPr>
          <p:cNvPr id="14" name="Shape 10"/>
          <p:cNvSpPr/>
          <p:nvPr/>
        </p:nvSpPr>
        <p:spPr>
          <a:xfrm>
            <a:off x="8138160" y="1417320"/>
            <a:ext cx="3520440" cy="1965960"/>
          </a:xfrm>
          <a:prstGeom prst="roundRect">
            <a:avLst>
              <a:gd name="adj" fmla="val 4651"/>
            </a:avLst>
          </a:prstGeom>
          <a:solidFill>
            <a:srgbClr val="10314A"/>
          </a:solidFill>
          <a:ln/>
        </p:spPr>
      </p:sp>
      <p:sp>
        <p:nvSpPr>
          <p:cNvPr id="15" name="Shape 11"/>
          <p:cNvSpPr/>
          <p:nvPr/>
        </p:nvSpPr>
        <p:spPr>
          <a:xfrm>
            <a:off x="8366760" y="1645920"/>
            <a:ext cx="548640" cy="548640"/>
          </a:xfrm>
          <a:prstGeom prst="ellipse">
            <a:avLst/>
          </a:prstGeom>
          <a:solidFill>
            <a:srgbClr val="E8A33D"/>
          </a:solidFill>
          <a:ln/>
        </p:spPr>
      </p:sp>
      <p:pic>
        <p:nvPicPr>
          <p:cNvPr id="16" name="Image 2" descr="/home/claude/pptx_work/icon_clipboard.png">    </p:cNvPr>
          <p:cNvPicPr>
            <a:picLocks noChangeAspect="1"/>
          </p:cNvPicPr>
          <p:nvPr/>
        </p:nvPicPr>
        <p:blipFill>
          <a:blip r:embed="rId3"/>
          <a:stretch>
            <a:fillRect/>
          </a:stretch>
        </p:blipFill>
        <p:spPr>
          <a:xfrm>
            <a:off x="8509406" y="1788566"/>
            <a:ext cx="263347" cy="263347"/>
          </a:xfrm>
          <a:prstGeom prst="rect">
            <a:avLst/>
          </a:prstGeom>
        </p:spPr>
      </p:pic>
      <p:sp>
        <p:nvSpPr>
          <p:cNvPr id="17" name="Text 12"/>
          <p:cNvSpPr txBox="1"/>
          <p:nvPr/>
        </p:nvSpPr>
        <p:spPr>
          <a:xfrm>
            <a:off x="8366760" y="228600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Better Planning</a:t>
            </a:r>
            <a:endParaRPr lang="en-US" sz="1350" dirty="0"/>
          </a:p>
        </p:txBody>
      </p:sp>
      <p:sp>
        <p:nvSpPr>
          <p:cNvPr id="18" name="Text 13"/>
          <p:cNvSpPr txBox="1"/>
          <p:nvPr/>
        </p:nvSpPr>
        <p:spPr>
          <a:xfrm>
            <a:off x="8366760" y="265176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Data-backed maintenance calendars and budgets.</a:t>
            </a:r>
            <a:endParaRPr lang="en-US" sz="1100" dirty="0"/>
          </a:p>
        </p:txBody>
      </p:sp>
      <p:sp>
        <p:nvSpPr>
          <p:cNvPr id="19" name="Shape 14"/>
          <p:cNvSpPr/>
          <p:nvPr/>
        </p:nvSpPr>
        <p:spPr>
          <a:xfrm>
            <a:off x="548640" y="3657600"/>
            <a:ext cx="3520440" cy="1965960"/>
          </a:xfrm>
          <a:prstGeom prst="roundRect">
            <a:avLst>
              <a:gd name="adj" fmla="val 4651"/>
            </a:avLst>
          </a:prstGeom>
          <a:solidFill>
            <a:srgbClr val="10314A"/>
          </a:solidFill>
          <a:ln/>
        </p:spPr>
      </p:sp>
      <p:sp>
        <p:nvSpPr>
          <p:cNvPr id="20" name="Shape 15"/>
          <p:cNvSpPr/>
          <p:nvPr/>
        </p:nvSpPr>
        <p:spPr>
          <a:xfrm>
            <a:off x="777240" y="3886200"/>
            <a:ext cx="548640" cy="548640"/>
          </a:xfrm>
          <a:prstGeom prst="ellipse">
            <a:avLst/>
          </a:prstGeom>
          <a:solidFill>
            <a:srgbClr val="E8A33D"/>
          </a:solidFill>
          <a:ln/>
        </p:spPr>
      </p:sp>
      <p:pic>
        <p:nvPicPr>
          <p:cNvPr id="21" name="Image 3" descr="/home/claude/pptx_work/icon_book.png">    </p:cNvPr>
          <p:cNvPicPr>
            <a:picLocks noChangeAspect="1"/>
          </p:cNvPicPr>
          <p:nvPr/>
        </p:nvPicPr>
        <p:blipFill>
          <a:blip r:embed="rId4"/>
          <a:stretch>
            <a:fillRect/>
          </a:stretch>
        </p:blipFill>
        <p:spPr>
          <a:xfrm>
            <a:off x="919886" y="4028846"/>
            <a:ext cx="263347" cy="263347"/>
          </a:xfrm>
          <a:prstGeom prst="rect">
            <a:avLst/>
          </a:prstGeom>
        </p:spPr>
      </p:pic>
      <p:sp>
        <p:nvSpPr>
          <p:cNvPr id="22" name="Text 16"/>
          <p:cNvSpPr txBox="1"/>
          <p:nvPr/>
        </p:nvSpPr>
        <p:spPr>
          <a:xfrm>
            <a:off x="777240" y="452628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Extended Equipment Life</a:t>
            </a:r>
            <a:endParaRPr lang="en-US" sz="1350" dirty="0"/>
          </a:p>
        </p:txBody>
      </p:sp>
      <p:sp>
        <p:nvSpPr>
          <p:cNvPr id="23" name="Text 17"/>
          <p:cNvSpPr txBox="1"/>
          <p:nvPr/>
        </p:nvSpPr>
        <p:spPr>
          <a:xfrm>
            <a:off x="777240" y="489204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Regular servicing prolongs asset lifespan.</a:t>
            </a:r>
            <a:endParaRPr lang="en-US" sz="1100" dirty="0"/>
          </a:p>
        </p:txBody>
      </p:sp>
      <p:sp>
        <p:nvSpPr>
          <p:cNvPr id="24" name="Shape 18"/>
          <p:cNvSpPr/>
          <p:nvPr/>
        </p:nvSpPr>
        <p:spPr>
          <a:xfrm>
            <a:off x="4343400" y="3657600"/>
            <a:ext cx="3520440" cy="1965960"/>
          </a:xfrm>
          <a:prstGeom prst="roundRect">
            <a:avLst>
              <a:gd name="adj" fmla="val 4651"/>
            </a:avLst>
          </a:prstGeom>
          <a:solidFill>
            <a:srgbClr val="10314A"/>
          </a:solidFill>
          <a:ln/>
        </p:spPr>
      </p:sp>
      <p:sp>
        <p:nvSpPr>
          <p:cNvPr id="25" name="Shape 19"/>
          <p:cNvSpPr/>
          <p:nvPr/>
        </p:nvSpPr>
        <p:spPr>
          <a:xfrm>
            <a:off x="4572000" y="3886200"/>
            <a:ext cx="548640" cy="548640"/>
          </a:xfrm>
          <a:prstGeom prst="ellipse">
            <a:avLst/>
          </a:prstGeom>
          <a:solidFill>
            <a:srgbClr val="E8A33D"/>
          </a:solidFill>
          <a:ln/>
        </p:spPr>
      </p:sp>
      <p:pic>
        <p:nvPicPr>
          <p:cNvPr id="26" name="Image 4" descr="/home/claude/pptx_work/icon_database.png">    </p:cNvPr>
          <p:cNvPicPr>
            <a:picLocks noChangeAspect="1"/>
          </p:cNvPicPr>
          <p:nvPr/>
        </p:nvPicPr>
        <p:blipFill>
          <a:blip r:embed="rId5"/>
          <a:stretch>
            <a:fillRect/>
          </a:stretch>
        </p:blipFill>
        <p:spPr>
          <a:xfrm>
            <a:off x="4714646" y="4028846"/>
            <a:ext cx="263347" cy="263347"/>
          </a:xfrm>
          <a:prstGeom prst="rect">
            <a:avLst/>
          </a:prstGeom>
        </p:spPr>
      </p:pic>
      <p:sp>
        <p:nvSpPr>
          <p:cNvPr id="27" name="Text 20"/>
          <p:cNvSpPr txBox="1"/>
          <p:nvPr/>
        </p:nvSpPr>
        <p:spPr>
          <a:xfrm>
            <a:off x="4572000" y="452628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Data-Driven Decisions</a:t>
            </a:r>
            <a:endParaRPr lang="en-US" sz="1350" dirty="0"/>
          </a:p>
        </p:txBody>
      </p:sp>
      <p:sp>
        <p:nvSpPr>
          <p:cNvPr id="28" name="Text 21"/>
          <p:cNvSpPr txBox="1"/>
          <p:nvPr/>
        </p:nvSpPr>
        <p:spPr>
          <a:xfrm>
            <a:off x="4572000" y="489204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Historical reports guide procurement &amp; policy.</a:t>
            </a:r>
            <a:endParaRPr lang="en-US" sz="1100" dirty="0"/>
          </a:p>
        </p:txBody>
      </p:sp>
      <p:sp>
        <p:nvSpPr>
          <p:cNvPr id="29" name="Shape 22"/>
          <p:cNvSpPr/>
          <p:nvPr/>
        </p:nvSpPr>
        <p:spPr>
          <a:xfrm>
            <a:off x="8138160" y="3657600"/>
            <a:ext cx="3520440" cy="1965960"/>
          </a:xfrm>
          <a:prstGeom prst="roundRect">
            <a:avLst>
              <a:gd name="adj" fmla="val 4651"/>
            </a:avLst>
          </a:prstGeom>
          <a:solidFill>
            <a:srgbClr val="10314A"/>
          </a:solidFill>
          <a:ln/>
        </p:spPr>
      </p:sp>
      <p:sp>
        <p:nvSpPr>
          <p:cNvPr id="30" name="Shape 23"/>
          <p:cNvSpPr/>
          <p:nvPr/>
        </p:nvSpPr>
        <p:spPr>
          <a:xfrm>
            <a:off x="8366760" y="3886200"/>
            <a:ext cx="548640" cy="548640"/>
          </a:xfrm>
          <a:prstGeom prst="ellipse">
            <a:avLst/>
          </a:prstGeom>
          <a:solidFill>
            <a:srgbClr val="E8A33D"/>
          </a:solidFill>
          <a:ln/>
        </p:spPr>
      </p:sp>
      <p:pic>
        <p:nvPicPr>
          <p:cNvPr id="31" name="Image 5" descr="/home/claude/pptx_work/icon_check.png">    </p:cNvPr>
          <p:cNvPicPr>
            <a:picLocks noChangeAspect="1"/>
          </p:cNvPicPr>
          <p:nvPr/>
        </p:nvPicPr>
        <p:blipFill>
          <a:blip r:embed="rId6"/>
          <a:stretch>
            <a:fillRect/>
          </a:stretch>
        </p:blipFill>
        <p:spPr>
          <a:xfrm>
            <a:off x="8509406" y="4028846"/>
            <a:ext cx="263347" cy="263347"/>
          </a:xfrm>
          <a:prstGeom prst="rect">
            <a:avLst/>
          </a:prstGeom>
        </p:spPr>
      </p:pic>
      <p:sp>
        <p:nvSpPr>
          <p:cNvPr id="32" name="Text 24"/>
          <p:cNvSpPr txBox="1"/>
          <p:nvPr/>
        </p:nvSpPr>
        <p:spPr>
          <a:xfrm>
            <a:off x="8366760" y="4526280"/>
            <a:ext cx="3063240" cy="36576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Improved Accountability</a:t>
            </a:r>
            <a:endParaRPr lang="en-US" sz="1350" dirty="0"/>
          </a:p>
        </p:txBody>
      </p:sp>
      <p:sp>
        <p:nvSpPr>
          <p:cNvPr id="33" name="Text 25"/>
          <p:cNvSpPr txBox="1"/>
          <p:nvPr/>
        </p:nvSpPr>
        <p:spPr>
          <a:xfrm>
            <a:off x="8366760" y="4892040"/>
            <a:ext cx="3063240" cy="685800"/>
          </a:xfrm>
          <a:prstGeom prst="rect">
            <a:avLst/>
          </a:prstGeom>
          <a:noFill/>
          <a:ln/>
        </p:spPr>
        <p:txBody>
          <a:bodyPr wrap="square" rtlCol="0" anchor="ctr"/>
          <a:lstStyle/>
          <a:p>
            <a:pPr indent="0" marL="0">
              <a:lnSpc>
                <a:spcPct val="120000"/>
              </a:lnSpc>
              <a:buNone/>
            </a:pPr>
            <a:r>
              <a:rPr lang="en-US" sz="1100" dirty="0">
                <a:solidFill>
                  <a:srgbClr val="C7D6DE"/>
                </a:solidFill>
                <a:latin typeface="Calibri" pitchFamily="34" charset="0"/>
                <a:ea typeface="Calibri" pitchFamily="34" charset="-122"/>
                <a:cs typeface="Calibri" pitchFamily="34" charset="-120"/>
              </a:rPr>
              <a:t>Clear ownership at every step of the process.</a:t>
            </a:r>
            <a:endParaRPr lang="en-US" sz="1100" dirty="0"/>
          </a:p>
        </p:txBody>
      </p:sp>
      <p:sp>
        <p:nvSpPr>
          <p:cNvPr id="35" name="Text 26"/>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6B3"/>
                </a:solidFill>
                <a:latin typeface="Calibri" pitchFamily="34" charset="0"/>
                <a:ea typeface="Calibri" pitchFamily="34" charset="-122"/>
                <a:cs typeface="Calibri" pitchFamily="34" charset="-120"/>
              </a:rPr>
              <a:t>Library Equipment Maintenance System</a:t>
            </a:r>
            <a:endParaRPr lang="en-US" sz="900" dirty="0"/>
          </a:p>
        </p:txBody>
      </p:sp>
      <p:sp>
        <p:nvSpPr>
          <p:cNvPr id="36" name="Text 27"/>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8FA6B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600" b="1" dirty="0">
                <a:solidFill>
                  <a:srgbClr val="1B2A33"/>
                </a:solidFill>
                <a:latin typeface="Cambria" pitchFamily="34" charset="0"/>
                <a:ea typeface="Cambria" pitchFamily="34" charset="-122"/>
                <a:cs typeface="Cambria" pitchFamily="34" charset="-120"/>
              </a:rPr>
              <a:t>Future Enhancements</a:t>
            </a:r>
            <a:endParaRPr lang="en-US" sz="36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417320"/>
            <a:ext cx="3520440" cy="4206240"/>
          </a:xfrm>
          <a:prstGeom prst="roundRect">
            <a:avLst>
              <a:gd name="adj" fmla="val 3117"/>
            </a:avLst>
          </a:prstGeom>
          <a:solidFill>
            <a:srgbClr val="F4F7F9"/>
          </a:solidFill>
          <a:ln/>
        </p:spPr>
      </p:sp>
      <p:sp>
        <p:nvSpPr>
          <p:cNvPr id="5" name="Shape 3"/>
          <p:cNvSpPr/>
          <p:nvPr/>
        </p:nvSpPr>
        <p:spPr>
          <a:xfrm>
            <a:off x="1874520" y="1828800"/>
            <a:ext cx="868680" cy="868680"/>
          </a:xfrm>
          <a:prstGeom prst="ellipse">
            <a:avLst/>
          </a:prstGeom>
          <a:solidFill>
            <a:srgbClr val="1C7293"/>
          </a:solidFill>
          <a:ln/>
        </p:spPr>
      </p:sp>
      <p:pic>
        <p:nvPicPr>
          <p:cNvPr id="6" name="Image 0" descr="/home/claude/pptx_work/icon_mobile.png">    </p:cNvPr>
          <p:cNvPicPr>
            <a:picLocks noChangeAspect="1"/>
          </p:cNvPicPr>
          <p:nvPr/>
        </p:nvPicPr>
        <p:blipFill>
          <a:blip r:embed="rId1"/>
          <a:stretch>
            <a:fillRect/>
          </a:stretch>
        </p:blipFill>
        <p:spPr>
          <a:xfrm>
            <a:off x="2100377" y="2054657"/>
            <a:ext cx="416966" cy="416966"/>
          </a:xfrm>
          <a:prstGeom prst="rect">
            <a:avLst/>
          </a:prstGeom>
        </p:spPr>
      </p:pic>
      <p:sp>
        <p:nvSpPr>
          <p:cNvPr id="7" name="Text 4"/>
          <p:cNvSpPr txBox="1"/>
          <p:nvPr/>
        </p:nvSpPr>
        <p:spPr>
          <a:xfrm>
            <a:off x="777240" y="2971800"/>
            <a:ext cx="3063240" cy="822960"/>
          </a:xfrm>
          <a:prstGeom prst="rect">
            <a:avLst/>
          </a:prstGeom>
          <a:noFill/>
          <a:ln/>
        </p:spPr>
        <p:txBody>
          <a:bodyPr wrap="square" rtlCol="0" anchor="ctr"/>
          <a:lstStyle/>
          <a:p>
            <a:pPr algn="ctr" indent="0" marL="0">
              <a:lnSpc>
                <a:spcPct val="115000"/>
              </a:lnSpc>
              <a:buNone/>
            </a:pPr>
            <a:r>
              <a:rPr lang="en-US" sz="1600" b="1" dirty="0">
                <a:solidFill>
                  <a:srgbClr val="1B2A33"/>
                </a:solidFill>
                <a:latin typeface="Cambria" pitchFamily="34" charset="0"/>
                <a:ea typeface="Cambria" pitchFamily="34" charset="-122"/>
                <a:cs typeface="Cambria" pitchFamily="34" charset="-120"/>
              </a:rPr>
              <a:t>Mobile App Integration</a:t>
            </a:r>
            <a:endParaRPr lang="en-US" sz="1600" dirty="0"/>
          </a:p>
        </p:txBody>
      </p:sp>
      <p:sp>
        <p:nvSpPr>
          <p:cNvPr id="8" name="Text 5"/>
          <p:cNvSpPr txBox="1"/>
          <p:nvPr/>
        </p:nvSpPr>
        <p:spPr>
          <a:xfrm>
            <a:off x="822960" y="3840480"/>
            <a:ext cx="2971800" cy="1554480"/>
          </a:xfrm>
          <a:prstGeom prst="rect">
            <a:avLst/>
          </a:prstGeom>
          <a:noFill/>
          <a:ln/>
        </p:spPr>
        <p:txBody>
          <a:bodyPr wrap="square" rtlCol="0" anchor="ctr"/>
          <a:lstStyle/>
          <a:p>
            <a:pPr algn="ctr" indent="0" marL="0">
              <a:lnSpc>
                <a:spcPct val="130000"/>
              </a:lnSpc>
              <a:buNone/>
            </a:pPr>
            <a:r>
              <a:rPr lang="en-US" sz="1250" dirty="0">
                <a:solidFill>
                  <a:srgbClr val="5C6B73"/>
                </a:solidFill>
                <a:latin typeface="Calibri" pitchFamily="34" charset="0"/>
                <a:ea typeface="Calibri" pitchFamily="34" charset="-122"/>
                <a:cs typeface="Calibri" pitchFamily="34" charset="-120"/>
              </a:rPr>
              <a:t>On-the-go reporting and technician dispatch from a phone.</a:t>
            </a:r>
            <a:endParaRPr lang="en-US" sz="1250" dirty="0"/>
          </a:p>
        </p:txBody>
      </p:sp>
      <p:sp>
        <p:nvSpPr>
          <p:cNvPr id="9" name="Shape 6"/>
          <p:cNvSpPr/>
          <p:nvPr/>
        </p:nvSpPr>
        <p:spPr>
          <a:xfrm>
            <a:off x="4343400" y="1417320"/>
            <a:ext cx="3520440" cy="4206240"/>
          </a:xfrm>
          <a:prstGeom prst="roundRect">
            <a:avLst>
              <a:gd name="adj" fmla="val 3117"/>
            </a:avLst>
          </a:prstGeom>
          <a:solidFill>
            <a:srgbClr val="F4F7F9"/>
          </a:solidFill>
          <a:ln/>
        </p:spPr>
      </p:sp>
      <p:sp>
        <p:nvSpPr>
          <p:cNvPr id="10" name="Shape 7"/>
          <p:cNvSpPr/>
          <p:nvPr/>
        </p:nvSpPr>
        <p:spPr>
          <a:xfrm>
            <a:off x="5669280" y="1828800"/>
            <a:ext cx="868680" cy="868680"/>
          </a:xfrm>
          <a:prstGeom prst="ellipse">
            <a:avLst/>
          </a:prstGeom>
          <a:solidFill>
            <a:srgbClr val="1C7293"/>
          </a:solidFill>
          <a:ln/>
        </p:spPr>
      </p:sp>
      <p:pic>
        <p:nvPicPr>
          <p:cNvPr id="11" name="Image 1" descr="/home/claude/pptx_work/icon_brain.png">    </p:cNvPr>
          <p:cNvPicPr>
            <a:picLocks noChangeAspect="1"/>
          </p:cNvPicPr>
          <p:nvPr/>
        </p:nvPicPr>
        <p:blipFill>
          <a:blip r:embed="rId2"/>
          <a:stretch>
            <a:fillRect/>
          </a:stretch>
        </p:blipFill>
        <p:spPr>
          <a:xfrm>
            <a:off x="5895137" y="2054657"/>
            <a:ext cx="416966" cy="416966"/>
          </a:xfrm>
          <a:prstGeom prst="rect">
            <a:avLst/>
          </a:prstGeom>
        </p:spPr>
      </p:pic>
      <p:sp>
        <p:nvSpPr>
          <p:cNvPr id="12" name="Text 8"/>
          <p:cNvSpPr txBox="1"/>
          <p:nvPr/>
        </p:nvSpPr>
        <p:spPr>
          <a:xfrm>
            <a:off x="4572000" y="2971800"/>
            <a:ext cx="3063240" cy="822960"/>
          </a:xfrm>
          <a:prstGeom prst="rect">
            <a:avLst/>
          </a:prstGeom>
          <a:noFill/>
          <a:ln/>
        </p:spPr>
        <p:txBody>
          <a:bodyPr wrap="square" rtlCol="0" anchor="ctr"/>
          <a:lstStyle/>
          <a:p>
            <a:pPr algn="ctr" indent="0" marL="0">
              <a:lnSpc>
                <a:spcPct val="115000"/>
              </a:lnSpc>
              <a:buNone/>
            </a:pPr>
            <a:r>
              <a:rPr lang="en-US" sz="1600" b="1" dirty="0">
                <a:solidFill>
                  <a:srgbClr val="1B2A33"/>
                </a:solidFill>
                <a:latin typeface="Cambria" pitchFamily="34" charset="0"/>
                <a:ea typeface="Cambria" pitchFamily="34" charset="-122"/>
                <a:cs typeface="Cambria" pitchFamily="34" charset="-120"/>
              </a:rPr>
              <a:t>Predictive Maintenance (AI)</a:t>
            </a:r>
            <a:endParaRPr lang="en-US" sz="1600" dirty="0"/>
          </a:p>
        </p:txBody>
      </p:sp>
      <p:sp>
        <p:nvSpPr>
          <p:cNvPr id="13" name="Text 9"/>
          <p:cNvSpPr txBox="1"/>
          <p:nvPr/>
        </p:nvSpPr>
        <p:spPr>
          <a:xfrm>
            <a:off x="4617720" y="3840480"/>
            <a:ext cx="2971800" cy="1554480"/>
          </a:xfrm>
          <a:prstGeom prst="rect">
            <a:avLst/>
          </a:prstGeom>
          <a:noFill/>
          <a:ln/>
        </p:spPr>
        <p:txBody>
          <a:bodyPr wrap="square" rtlCol="0" anchor="ctr"/>
          <a:lstStyle/>
          <a:p>
            <a:pPr algn="ctr" indent="0" marL="0">
              <a:lnSpc>
                <a:spcPct val="130000"/>
              </a:lnSpc>
              <a:buNone/>
            </a:pPr>
            <a:r>
              <a:rPr lang="en-US" sz="1250" dirty="0">
                <a:solidFill>
                  <a:srgbClr val="5C6B73"/>
                </a:solidFill>
                <a:latin typeface="Calibri" pitchFamily="34" charset="0"/>
                <a:ea typeface="Calibri" pitchFamily="34" charset="-122"/>
                <a:cs typeface="Calibri" pitchFamily="34" charset="-120"/>
              </a:rPr>
              <a:t>Machine learning flags equipment likely to fail before it does.</a:t>
            </a:r>
            <a:endParaRPr lang="en-US" sz="1250" dirty="0"/>
          </a:p>
        </p:txBody>
      </p:sp>
      <p:sp>
        <p:nvSpPr>
          <p:cNvPr id="14" name="Shape 10"/>
          <p:cNvSpPr/>
          <p:nvPr/>
        </p:nvSpPr>
        <p:spPr>
          <a:xfrm>
            <a:off x="8138160" y="1417320"/>
            <a:ext cx="3520440" cy="4206240"/>
          </a:xfrm>
          <a:prstGeom prst="roundRect">
            <a:avLst>
              <a:gd name="adj" fmla="val 3117"/>
            </a:avLst>
          </a:prstGeom>
          <a:solidFill>
            <a:srgbClr val="F4F7F9"/>
          </a:solidFill>
          <a:ln/>
        </p:spPr>
      </p:sp>
      <p:sp>
        <p:nvSpPr>
          <p:cNvPr id="15" name="Shape 11"/>
          <p:cNvSpPr/>
          <p:nvPr/>
        </p:nvSpPr>
        <p:spPr>
          <a:xfrm>
            <a:off x="9464040" y="1828800"/>
            <a:ext cx="868680" cy="868680"/>
          </a:xfrm>
          <a:prstGeom prst="ellipse">
            <a:avLst/>
          </a:prstGeom>
          <a:solidFill>
            <a:srgbClr val="1C7293"/>
          </a:solidFill>
          <a:ln/>
        </p:spPr>
      </p:sp>
      <p:pic>
        <p:nvPicPr>
          <p:cNvPr id="16" name="Image 2" descr="/home/claude/pptx_work/icon_qrcode.png">    </p:cNvPr>
          <p:cNvPicPr>
            <a:picLocks noChangeAspect="1"/>
          </p:cNvPicPr>
          <p:nvPr/>
        </p:nvPicPr>
        <p:blipFill>
          <a:blip r:embed="rId3"/>
          <a:stretch>
            <a:fillRect/>
          </a:stretch>
        </p:blipFill>
        <p:spPr>
          <a:xfrm>
            <a:off x="9689897" y="2054657"/>
            <a:ext cx="416966" cy="416966"/>
          </a:xfrm>
          <a:prstGeom prst="rect">
            <a:avLst/>
          </a:prstGeom>
        </p:spPr>
      </p:pic>
      <p:sp>
        <p:nvSpPr>
          <p:cNvPr id="17" name="Text 12"/>
          <p:cNvSpPr txBox="1"/>
          <p:nvPr/>
        </p:nvSpPr>
        <p:spPr>
          <a:xfrm>
            <a:off x="8366760" y="2971800"/>
            <a:ext cx="3063240" cy="822960"/>
          </a:xfrm>
          <a:prstGeom prst="rect">
            <a:avLst/>
          </a:prstGeom>
          <a:noFill/>
          <a:ln/>
        </p:spPr>
        <p:txBody>
          <a:bodyPr wrap="square" rtlCol="0" anchor="ctr"/>
          <a:lstStyle/>
          <a:p>
            <a:pPr algn="ctr" indent="0" marL="0">
              <a:lnSpc>
                <a:spcPct val="115000"/>
              </a:lnSpc>
              <a:buNone/>
            </a:pPr>
            <a:r>
              <a:rPr lang="en-US" sz="1600" b="1" dirty="0">
                <a:solidFill>
                  <a:srgbClr val="1B2A33"/>
                </a:solidFill>
                <a:latin typeface="Cambria" pitchFamily="34" charset="0"/>
                <a:ea typeface="Cambria" pitchFamily="34" charset="-122"/>
                <a:cs typeface="Cambria" pitchFamily="34" charset="-120"/>
              </a:rPr>
              <a:t>QR / Barcode Scanning</a:t>
            </a:r>
            <a:endParaRPr lang="en-US" sz="1600" dirty="0"/>
          </a:p>
        </p:txBody>
      </p:sp>
      <p:sp>
        <p:nvSpPr>
          <p:cNvPr id="18" name="Text 13"/>
          <p:cNvSpPr txBox="1"/>
          <p:nvPr/>
        </p:nvSpPr>
        <p:spPr>
          <a:xfrm>
            <a:off x="8412480" y="3840480"/>
            <a:ext cx="2971800" cy="1554480"/>
          </a:xfrm>
          <a:prstGeom prst="rect">
            <a:avLst/>
          </a:prstGeom>
          <a:noFill/>
          <a:ln/>
        </p:spPr>
        <p:txBody>
          <a:bodyPr wrap="square" rtlCol="0" anchor="ctr"/>
          <a:lstStyle/>
          <a:p>
            <a:pPr algn="ctr" indent="0" marL="0">
              <a:lnSpc>
                <a:spcPct val="130000"/>
              </a:lnSpc>
              <a:buNone/>
            </a:pPr>
            <a:r>
              <a:rPr lang="en-US" sz="1250" dirty="0">
                <a:solidFill>
                  <a:srgbClr val="5C6B73"/>
                </a:solidFill>
                <a:latin typeface="Calibri" pitchFamily="34" charset="0"/>
                <a:ea typeface="Calibri" pitchFamily="34" charset="-122"/>
                <a:cs typeface="Calibri" pitchFamily="34" charset="-120"/>
              </a:rPr>
              <a:t>Instant equipment lookup and check-in via a quick scan.</a:t>
            </a:r>
            <a:endParaRPr lang="en-US" sz="1250" dirty="0"/>
          </a:p>
        </p:txBody>
      </p:sp>
      <p:sp>
        <p:nvSpPr>
          <p:cNvPr id="20" name="Text 1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6B73"/>
                </a:solidFill>
                <a:latin typeface="Calibri" pitchFamily="34" charset="0"/>
                <a:ea typeface="Calibri" pitchFamily="34" charset="-122"/>
                <a:cs typeface="Calibri" pitchFamily="34" charset="-120"/>
              </a:rPr>
              <a:t>Library Equipment Maintenance System</a:t>
            </a:r>
            <a:endParaRPr lang="en-US" sz="900" dirty="0"/>
          </a:p>
        </p:txBody>
      </p:sp>
      <p:sp>
        <p:nvSpPr>
          <p:cNvPr id="21" name="Text 15"/>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065A82">
              <a:alpha val="45000"/>
            </a:srgbClr>
          </a:solidFill>
          <a:ln/>
        </p:spPr>
      </p:sp>
      <p:sp>
        <p:nvSpPr>
          <p:cNvPr id="3" name="Shape 1"/>
          <p:cNvSpPr/>
          <p:nvPr/>
        </p:nvSpPr>
        <p:spPr>
          <a:xfrm>
            <a:off x="822960" y="777240"/>
            <a:ext cx="822960" cy="822960"/>
          </a:xfrm>
          <a:prstGeom prst="ellipse">
            <a:avLst/>
          </a:prstGeom>
          <a:solidFill>
            <a:srgbClr val="E8A33D"/>
          </a:solidFill>
          <a:ln/>
        </p:spPr>
      </p:sp>
      <p:pic>
        <p:nvPicPr>
          <p:cNvPr id="4" name="Image 0" descr="/home/claude/pptx_work/icon_check.png">    </p:cNvPr>
          <p:cNvPicPr>
            <a:picLocks noChangeAspect="1"/>
          </p:cNvPicPr>
          <p:nvPr/>
        </p:nvPicPr>
        <p:blipFill>
          <a:blip r:embed="rId1"/>
          <a:stretch>
            <a:fillRect/>
          </a:stretch>
        </p:blipFill>
        <p:spPr>
          <a:xfrm>
            <a:off x="1036930" y="991210"/>
            <a:ext cx="395021" cy="395021"/>
          </a:xfrm>
          <a:prstGeom prst="rect">
            <a:avLst/>
          </a:prstGeom>
        </p:spPr>
      </p:pic>
      <p:sp>
        <p:nvSpPr>
          <p:cNvPr id="5" name="Text 2"/>
          <p:cNvSpPr txBox="1"/>
          <p:nvPr/>
        </p:nvSpPr>
        <p:spPr>
          <a:xfrm>
            <a:off x="822960" y="1828800"/>
            <a:ext cx="8229600" cy="6400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6" name="Text 3"/>
          <p:cNvSpPr txBox="1"/>
          <p:nvPr/>
        </p:nvSpPr>
        <p:spPr>
          <a:xfrm>
            <a:off x="822960" y="2514600"/>
            <a:ext cx="7772400" cy="3200400"/>
          </a:xfrm>
          <a:prstGeom prst="rect">
            <a:avLst/>
          </a:prstGeom>
          <a:noFill/>
          <a:ln/>
        </p:spPr>
        <p:txBody>
          <a:bodyPr wrap="square" rtlCol="0" anchor="t"/>
          <a:lstStyle/>
          <a:p>
            <a:pPr indent="0" marL="0">
              <a:lnSpc>
                <a:spcPct val="135000"/>
              </a:lnSpc>
              <a:buNone/>
            </a:pPr>
            <a:r>
              <a:rPr lang="en-US" sz="1600" dirty="0">
                <a:solidFill>
                  <a:srgbClr val="E4ECF0"/>
                </a:solidFill>
                <a:latin typeface="Calibri" pitchFamily="34" charset="0"/>
                <a:ea typeface="Calibri" pitchFamily="34" charset="-122"/>
                <a:cs typeface="Calibri" pitchFamily="34" charset="-120"/>
              </a:rPr>
              <a:t>A Library Equipment Maintenance System turns reactive, paper-based upkeep into a proactive, data-driven process.
</a:t>
            </a:r>
            <a:pPr indent="0" marL="0">
              <a:lnSpc>
                <a:spcPct val="135000"/>
              </a:lnSpc>
              <a:buNone/>
            </a:pPr>
            <a:r>
              <a:rPr lang="en-US" sz="1600" dirty="0">
                <a:solidFill>
                  <a:srgbClr val="E4ECF0"/>
                </a:solidFill>
                <a:latin typeface="Calibri" pitchFamily="34" charset="0"/>
                <a:ea typeface="Calibri" pitchFamily="34" charset="-122"/>
                <a:cs typeface="Calibri" pitchFamily="34" charset="-120"/>
              </a:rPr>
              <a:t>By automating tracking, scheduling, and reporting, libraries can cut downtime, extend asset life, and make smarter budget decisions.
</a:t>
            </a:r>
            <a:pPr indent="0" marL="0">
              <a:lnSpc>
                <a:spcPct val="135000"/>
              </a:lnSpc>
              <a:buNone/>
            </a:pPr>
            <a:r>
              <a:rPr lang="en-US" sz="1600" b="1" dirty="0">
                <a:solidFill>
                  <a:srgbClr val="CADCFC"/>
                </a:solidFill>
                <a:latin typeface="Calibri" pitchFamily="34" charset="0"/>
                <a:ea typeface="Calibri" pitchFamily="34" charset="-122"/>
                <a:cs typeface="Calibri" pitchFamily="34" charset="-120"/>
              </a:rPr>
              <a:t>Adopting this system is a practical step toward a more reliable and efficient library operation.</a:t>
            </a:r>
            <a:endParaRPr lang="en-US" sz="1600" dirty="0"/>
          </a:p>
        </p:txBody>
      </p:sp>
      <p:sp>
        <p:nvSpPr>
          <p:cNvPr id="8" name="Text 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6B3"/>
                </a:solidFill>
                <a:latin typeface="Calibri" pitchFamily="34" charset="0"/>
                <a:ea typeface="Calibri" pitchFamily="34" charset="-122"/>
                <a:cs typeface="Calibri" pitchFamily="34" charset="-120"/>
              </a:rPr>
              <a:t>Library Equipment Maintenance System</a:t>
            </a:r>
            <a:endParaRPr lang="en-US" sz="900" dirty="0"/>
          </a:p>
        </p:txBody>
      </p:sp>
      <p:sp>
        <p:nvSpPr>
          <p:cNvPr id="9" name="Text 5"/>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8FA6B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2026-09-11T06:48:06Z</dcterms:created>
  <dcterms:modified xsi:type="dcterms:W3CDTF">2026-09-11T06:48:06Z</dcterms:modified>
</cp:coreProperties>
</file>